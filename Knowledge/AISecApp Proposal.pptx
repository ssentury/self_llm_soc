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7"/>
  </p:notesMasterIdLst>
  <p:sldIdLst>
    <p:sldId id="256" r:id="rId2"/>
    <p:sldId id="257" r:id="rId3"/>
    <p:sldId id="258" r:id="rId4"/>
    <p:sldId id="273" r:id="rId5"/>
    <p:sldId id="276" r:id="rId6"/>
    <p:sldId id="277" r:id="rId7"/>
    <p:sldId id="278" r:id="rId8"/>
    <p:sldId id="279" r:id="rId9"/>
    <p:sldId id="280" r:id="rId10"/>
    <p:sldId id="282" r:id="rId11"/>
    <p:sldId id="283" r:id="rId12"/>
    <p:sldId id="281" r:id="rId13"/>
    <p:sldId id="284" r:id="rId14"/>
    <p:sldId id="285" r:id="rId15"/>
    <p:sldId id="272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2" d="100"/>
          <a:sy n="72" d="100"/>
        </p:scale>
        <p:origin x="105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65366-E216-4F16-8EB9-210FE73CF80A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B23BD4-067E-4FBD-AB7F-6B03739AA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72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ㅁㅈㄷㄹ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23BD4-067E-4FBD-AB7F-6B03739AA48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12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23BD4-067E-4FBD-AB7F-6B03739AA48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426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E33A3-338F-CCBA-F37A-9D2C52DAB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D13522-E2B6-948E-596C-1BD78024F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395F13-4983-10BB-0B3C-B71C88846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EB9CA7-9112-7A0F-AED1-2377F871C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23BD4-067E-4FBD-AB7F-6B03739AA48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738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44650-510F-2ACB-DD95-53E2DE1BF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5D777E-2B17-2076-23E5-46BAC1189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FB8274-BC73-6965-5058-22A7C8AB5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C2E1DD-F4DB-8AD8-7F4C-C0461C3D5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23BD4-067E-4FBD-AB7F-6B03739AA48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682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F3382-FEE6-4A71-52AD-A9B727CBA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75ABF8-73DA-03F8-51C6-66F89030E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AAC017-FE4A-52A1-3115-A61DC324B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F755B9-65CE-30E8-0C07-B77DD2B9B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23BD4-067E-4FBD-AB7F-6B03739AA48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9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10B58-4F58-6EE1-0393-5CF33FAD0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BD780B-FC7A-26C1-2C6C-B638BE663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6DA7EB-6607-0A18-3A4C-D11EAF654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E34F1B-CC06-0449-8C68-D13D98A1C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23BD4-067E-4FBD-AB7F-6B03739AA48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240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0A33D-2D02-8971-FE7F-1A62EF734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124650-FFE5-FD18-87BC-BFEE52392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B347DA-C1A4-44F3-2F7A-01189E927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603DE3-65FD-08F4-2BC0-2E66767F2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23BD4-067E-4FBD-AB7F-6B03739AA4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098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42615-C0C3-7337-7715-A5576D6B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4400F9-9879-AE58-A7C2-E787A994C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3E778A-1C3E-D2F7-635E-12A42F68E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7119B4-30C1-6F52-3A34-6E6B16600E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23BD4-067E-4FBD-AB7F-6B03739AA48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268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6316A-7EDF-15FC-5D65-BBAAA0BEB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BFDC43-A05D-DE8C-F100-63D0E933A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F7ECDE-A8C4-03A8-0CDC-39E3BBC81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AC0446-AB1A-7AC0-B1B7-1E108283F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23BD4-067E-4FBD-AB7F-6B03739AA48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794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F4C56-CFFB-8585-CDF6-0A5B4967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53D8C9-6993-FDEA-E136-4C100DD9A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895721-DECC-5FA5-FC96-B6E529037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D45AAA-1FAA-71F4-F5AA-08C2DBB06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23BD4-067E-4FBD-AB7F-6B03739AA48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878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BCB2D-5161-88D6-0770-22C337B0A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D117B2-435F-77F2-D9EC-E63F31042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44B713-279A-B38C-43A4-3087C3215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A07FD7-C51E-4AD9-0A40-7ED232588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23BD4-067E-4FBD-AB7F-6B03739AA48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291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6E8FD-0D20-77FD-416C-CF4BE7E8D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D3E959-AD30-8C00-B10F-88788CC1F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4115BB-7918-F81E-0E92-9108F2CE8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158223-7088-BA98-B101-A85E3FE1E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23BD4-067E-4FBD-AB7F-6B03739AA48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536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D0C58-AC4F-EECC-4F45-DD78A8411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F56BBC-47F8-E17A-C730-29163DD03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CB2143-DED1-C97D-BD18-8D2230D9E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B72157-1EBE-235B-4F50-B9371C33BE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23BD4-067E-4FBD-AB7F-6B03739AA48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739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22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38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01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79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84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7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28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88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29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441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12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0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44DFB53-C7FE-4BC7-BA96-83262BE09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F37B80F-0842-B011-3C43-815C1C826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322" y="2245149"/>
            <a:ext cx="9334500" cy="141519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dirty="0">
                <a:latin typeface="Book Antiqua" panose="02040602050305030304" pitchFamily="18" charset="0"/>
              </a:rPr>
              <a:t>ML+LLM </a:t>
            </a:r>
            <a:r>
              <a:rPr lang="ko-KR" altLang="en-US" dirty="0">
                <a:latin typeface="Book Antiqua" panose="02040602050305030304" pitchFamily="18" charset="0"/>
              </a:rPr>
              <a:t>기반</a:t>
            </a:r>
            <a:br>
              <a:rPr lang="en-US" altLang="ko-KR" dirty="0">
                <a:latin typeface="Book Antiqua" panose="02040602050305030304" pitchFamily="18" charset="0"/>
              </a:rPr>
            </a:br>
            <a:r>
              <a:rPr lang="ko-KR" altLang="en-US" dirty="0" err="1">
                <a:latin typeface="Book Antiqua" panose="02040602050305030304" pitchFamily="18" charset="0"/>
              </a:rPr>
              <a:t>다계층</a:t>
            </a:r>
            <a:r>
              <a:rPr lang="ko-KR" altLang="en-US" dirty="0">
                <a:latin typeface="Book Antiqua" panose="02040602050305030304" pitchFamily="18" charset="0"/>
              </a:rPr>
              <a:t> 네트워크 보안 경보 파이프라인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E31EC80-2288-BDB5-914A-AEE29CF8B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3322" y="4108762"/>
            <a:ext cx="9334500" cy="563187"/>
          </a:xfrm>
        </p:spPr>
        <p:txBody>
          <a:bodyPr>
            <a:normAutofit/>
          </a:bodyPr>
          <a:lstStyle/>
          <a:p>
            <a:pPr algn="ctr"/>
            <a:r>
              <a:rPr lang="en-US" altLang="ko-KR" sz="2000" dirty="0"/>
              <a:t>’26h1 </a:t>
            </a:r>
            <a:r>
              <a:rPr lang="en-US" altLang="ko-KR" sz="2000" dirty="0" err="1"/>
              <a:t>AISecapp</a:t>
            </a:r>
            <a:r>
              <a:rPr lang="en-US" altLang="ko-KR" sz="2000" dirty="0"/>
              <a:t> proposal presentation</a:t>
            </a: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53E15-6F90-7B24-E754-049FFAF3DA4F}"/>
              </a:ext>
            </a:extLst>
          </p:cNvPr>
          <p:cNvSpPr txBox="1"/>
          <p:nvPr/>
        </p:nvSpPr>
        <p:spPr>
          <a:xfrm>
            <a:off x="9833448" y="120896"/>
            <a:ext cx="2278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/>
              <a:t>32222956 </a:t>
            </a:r>
            <a:r>
              <a:rPr lang="ko-KR" altLang="en-US" sz="1400" dirty="0"/>
              <a:t>윤종현</a:t>
            </a:r>
          </a:p>
        </p:txBody>
      </p:sp>
    </p:spTree>
    <p:extLst>
      <p:ext uri="{BB962C8B-B14F-4D97-AF65-F5344CB8AC3E}">
        <p14:creationId xmlns:p14="http://schemas.microsoft.com/office/powerpoint/2010/main" val="3236772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56"/>
    </mc:Choice>
    <mc:Fallback xmlns="">
      <p:transition spd="slow" advTm="945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43F4B-FAF9-FC13-7229-34BA43B36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004202"/>
            <a:ext cx="2630854" cy="1416230"/>
          </a:xfrm>
        </p:spPr>
        <p:txBody>
          <a:bodyPr anchor="t">
            <a:normAutofit/>
          </a:bodyPr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70CD99-DD2B-1352-3178-E20D74C28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9769" y="1199535"/>
            <a:ext cx="4622131" cy="49726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1. </a:t>
            </a:r>
            <a:r>
              <a:rPr lang="ko-KR" altLang="en-US" sz="2000" dirty="0"/>
              <a:t>기술 배경 및 문제 제기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2. </a:t>
            </a:r>
            <a:r>
              <a:rPr lang="ko-KR" altLang="en-US" sz="2000" dirty="0"/>
              <a:t>문제 해결 방식 제안과 탐색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3. </a:t>
            </a:r>
            <a:r>
              <a:rPr lang="ko-KR" altLang="en-US" sz="2000" dirty="0"/>
              <a:t>프로젝트 아키텍처 계획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4. </a:t>
            </a:r>
            <a:r>
              <a:rPr lang="ko-KR" altLang="en-US" sz="2000" dirty="0"/>
              <a:t>평가 </a:t>
            </a:r>
            <a:r>
              <a:rPr lang="en-US" altLang="ko-KR" sz="2000" dirty="0"/>
              <a:t>Metric</a:t>
            </a:r>
          </a:p>
          <a:p>
            <a:pPr marL="0" indent="0">
              <a:buNone/>
            </a:pPr>
            <a:r>
              <a:rPr lang="en-US" altLang="ko-KR" sz="2000" dirty="0"/>
              <a:t>5. </a:t>
            </a:r>
            <a:r>
              <a:rPr lang="ko-KR" altLang="en-US" sz="2000" dirty="0"/>
              <a:t>수행 일정 </a:t>
            </a:r>
            <a:r>
              <a:rPr lang="en-US" altLang="ko-KR" sz="2000" dirty="0"/>
              <a:t>(</a:t>
            </a:r>
            <a:r>
              <a:rPr lang="ko-KR" altLang="en-US" sz="2000" dirty="0"/>
              <a:t>초안</a:t>
            </a:r>
            <a:r>
              <a:rPr lang="en-US" altLang="ko-KR" sz="2000" dirty="0"/>
              <a:t>)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24D7EDF6-6DA1-4F25-84E4-C9A5F6F9E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/>
          <a:lstStyle/>
          <a:p>
            <a:r>
              <a:rPr lang="en-US" altLang="ko-KR" dirty="0"/>
              <a:t>’26h1 </a:t>
            </a:r>
            <a:r>
              <a:rPr lang="en-US" altLang="ko-KR" dirty="0" err="1"/>
              <a:t>AISecapp</a:t>
            </a:r>
            <a:r>
              <a:rPr lang="en-US" altLang="ko-KR" dirty="0"/>
              <a:t> proposal presentation</a:t>
            </a:r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D9A50C5-0DD6-212F-C5E7-F1A23D431D51}"/>
              </a:ext>
            </a:extLst>
          </p:cNvPr>
          <p:cNvCxnSpPr>
            <a:cxnSpLocks/>
          </p:cNvCxnSpPr>
          <p:nvPr/>
        </p:nvCxnSpPr>
        <p:spPr>
          <a:xfrm>
            <a:off x="5839326" y="204263"/>
            <a:ext cx="0" cy="648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59316453-3892-3938-CCB8-AA3FB469C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463075"/>
            <a:ext cx="710647" cy="2211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93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45"/>
    </mc:Choice>
    <mc:Fallback xmlns="">
      <p:transition spd="slow" advTm="354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196025-6E8E-DB55-8C4E-105F08B50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379" y="148741"/>
            <a:ext cx="5861206" cy="1216929"/>
          </a:xfrm>
        </p:spPr>
        <p:txBody>
          <a:bodyPr anchor="b">
            <a:normAutofit/>
          </a:bodyPr>
          <a:lstStyle/>
          <a:p>
            <a:r>
              <a:rPr lang="ko-KR" altLang="en-US" sz="3200" dirty="0"/>
              <a:t>기술 배경 및 문제 제기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E16FB-7831-B63C-BE80-2D75269B6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100" y="2287017"/>
            <a:ext cx="5295900" cy="3820707"/>
          </a:xfrm>
        </p:spPr>
        <p:txBody>
          <a:bodyPr anchor="t">
            <a:normAutofit/>
          </a:bodyPr>
          <a:lstStyle/>
          <a:p>
            <a:r>
              <a:rPr lang="en-US" altLang="ko-KR" b="1" dirty="0">
                <a:ea typeface="Microsoft GothicNeo" panose="020B0500000101010101" pitchFamily="50" charset="-127"/>
                <a:cs typeface="Microsoft GothicNeo" panose="020B0500000101010101" pitchFamily="50" charset="-127"/>
              </a:rPr>
              <a:t>LLM</a:t>
            </a:r>
            <a:r>
              <a:rPr lang="ko-KR" altLang="en-US" b="1" dirty="0"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의 발전과 사이버보안</a:t>
            </a:r>
            <a:endParaRPr lang="en-US" altLang="ko-KR" b="1" dirty="0"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cs typeface="Microsoft GothicNeo" panose="020B0500000101010101" pitchFamily="50" charset="-127"/>
              </a:rPr>
              <a:t>빠르게 증가하는 </a:t>
            </a:r>
            <a:r>
              <a:rPr lang="en-US" altLang="ko-KR" sz="1600" dirty="0">
                <a:cs typeface="Microsoft GothicNeo" panose="020B0500000101010101" pitchFamily="50" charset="-127"/>
              </a:rPr>
              <a:t>LLM</a:t>
            </a:r>
            <a:r>
              <a:rPr lang="ko-KR" altLang="en-US" sz="1600" dirty="0">
                <a:cs typeface="Microsoft GothicNeo" panose="020B0500000101010101" pitchFamily="50" charset="-127"/>
              </a:rPr>
              <a:t>의 보안 취약점 탐지 능력</a:t>
            </a:r>
            <a:endParaRPr lang="en-US" altLang="ko-KR" sz="1600" dirty="0"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cs typeface="Microsoft GothicNeo" panose="020B0500000101010101" pitchFamily="50" charset="-127"/>
              </a:rPr>
              <a:t>보안 패치 배포보다 빠른 공격자의</a:t>
            </a:r>
            <a:r>
              <a:rPr lang="en-US" altLang="ko-KR" sz="1600" dirty="0">
                <a:cs typeface="Microsoft GothicNeo" panose="020B0500000101010101" pitchFamily="50" charset="-127"/>
              </a:rPr>
              <a:t> </a:t>
            </a:r>
            <a:r>
              <a:rPr lang="ko-KR" altLang="en-US" sz="1600" dirty="0">
                <a:cs typeface="Microsoft GothicNeo" panose="020B0500000101010101" pitchFamily="50" charset="-127"/>
              </a:rPr>
              <a:t>취약점 악용</a:t>
            </a:r>
            <a:endParaRPr lang="en-US" altLang="ko-KR" sz="1600" dirty="0"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cs typeface="Microsoft GothicNeo" panose="020B0500000101010101" pitchFamily="50" charset="-127"/>
              </a:rPr>
              <a:t>방어자의 </a:t>
            </a:r>
            <a:r>
              <a:rPr lang="ko-KR" altLang="en-US" sz="1600" dirty="0">
                <a:latin typeface="+mj-lt"/>
                <a:cs typeface="Microsoft GothicNeo" panose="020B0500000101010101" pitchFamily="50" charset="-127"/>
              </a:rPr>
              <a:t>방어</a:t>
            </a:r>
            <a:r>
              <a:rPr lang="ko-KR" altLang="en-US" sz="1600" dirty="0">
                <a:cs typeface="Microsoft GothicNeo" panose="020B0500000101010101" pitchFamily="50" charset="-127"/>
              </a:rPr>
              <a:t> 시간 축 붕괴</a:t>
            </a:r>
            <a:endParaRPr lang="en-US" altLang="ko-KR" sz="1600" dirty="0"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cs typeface="Microsoft GothicNeo" panose="020B0500000101010101" pitchFamily="50" charset="-127"/>
              </a:rPr>
              <a:t>공격자는 네트워크를 통한 침입으로 기업의 자산을 침해</a:t>
            </a:r>
            <a:endParaRPr lang="en-US" altLang="ko-KR" sz="1600" dirty="0"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B8CB7887-9796-A1EB-B406-52D3632D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>
            <a:normAutofit/>
          </a:bodyPr>
          <a:lstStyle/>
          <a:p>
            <a:r>
              <a:rPr lang="en-US" altLang="ko-KR" dirty="0"/>
              <a:t>’26h1 </a:t>
            </a:r>
            <a:r>
              <a:rPr lang="en-US" altLang="ko-KR" dirty="0" err="1"/>
              <a:t>AISecapp</a:t>
            </a:r>
            <a:r>
              <a:rPr lang="en-US" altLang="ko-KR" dirty="0"/>
              <a:t> proposal presentation</a:t>
            </a:r>
            <a:endParaRPr lang="ko-KR" altLang="en-US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D17FE95B-9DD5-6D42-62D0-85B4DA7C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463075"/>
            <a:ext cx="710647" cy="2211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434CC3-A376-2E80-8D6C-3A62278C2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690" y="2148405"/>
            <a:ext cx="3006664" cy="300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97"/>
    </mc:Choice>
    <mc:Fallback xmlns="">
      <p:transition spd="slow" advTm="1319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BC99A-79D2-9DF9-48E1-CADAF10B2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B6ED0DD5-D839-EA3C-1B4F-D81A13DD5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>
            <a:normAutofit/>
          </a:bodyPr>
          <a:lstStyle/>
          <a:p>
            <a:r>
              <a:rPr lang="en-US" altLang="ko-KR" dirty="0"/>
              <a:t>’26h1 </a:t>
            </a:r>
            <a:r>
              <a:rPr lang="en-US" altLang="ko-KR" dirty="0" err="1"/>
              <a:t>AISecapp</a:t>
            </a:r>
            <a:r>
              <a:rPr lang="en-US" altLang="ko-KR" dirty="0"/>
              <a:t> proposal presentation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893E097-2A22-98EC-210F-584CF355BAFF}"/>
              </a:ext>
            </a:extLst>
          </p:cNvPr>
          <p:cNvCxnSpPr>
            <a:cxnSpLocks/>
          </p:cNvCxnSpPr>
          <p:nvPr/>
        </p:nvCxnSpPr>
        <p:spPr>
          <a:xfrm>
            <a:off x="5839326" y="2098431"/>
            <a:ext cx="0" cy="452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A32B9FDA-4CA5-63FA-ED89-D6B814B7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463075"/>
            <a:ext cx="710647" cy="2211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1E2B1F5E-70EF-3FED-0EFC-C52AD4F3FF89}"/>
              </a:ext>
            </a:extLst>
          </p:cNvPr>
          <p:cNvSpPr txBox="1">
            <a:spLocks/>
          </p:cNvSpPr>
          <p:nvPr/>
        </p:nvSpPr>
        <p:spPr>
          <a:xfrm>
            <a:off x="6200978" y="2317100"/>
            <a:ext cx="4666247" cy="41928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소규모 조직</a:t>
            </a:r>
            <a:r>
              <a:rPr lang="en-US" altLang="ko-KR" b="1" dirty="0"/>
              <a:t>/</a:t>
            </a:r>
            <a:r>
              <a:rPr lang="ko-KR" altLang="en-US" b="1" dirty="0"/>
              <a:t>기업의 대응은</a:t>
            </a:r>
            <a:r>
              <a:rPr lang="en-US" altLang="ko-KR" b="1" dirty="0"/>
              <a:t>?</a:t>
            </a:r>
          </a:p>
          <a:p>
            <a:pPr marL="0" indent="0">
              <a:buNone/>
            </a:pPr>
            <a:endParaRPr lang="en-US" altLang="ko-KR" sz="100" b="1" dirty="0"/>
          </a:p>
          <a:p>
            <a:r>
              <a:rPr lang="ko-KR" altLang="en-US" dirty="0"/>
              <a:t>보안 운영 센터</a:t>
            </a:r>
            <a:r>
              <a:rPr lang="en-US" altLang="ko-KR" dirty="0"/>
              <a:t>? </a:t>
            </a:r>
            <a:r>
              <a:rPr lang="ko-KR" altLang="en-US" dirty="0"/>
              <a:t>고급 보안 솔루션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자원 제한</a:t>
            </a:r>
            <a:r>
              <a:rPr lang="en-US" altLang="ko-KR" dirty="0"/>
              <a:t>, </a:t>
            </a:r>
            <a:r>
              <a:rPr lang="ko-KR" altLang="en-US" dirty="0"/>
              <a:t>전담 인력 제한</a:t>
            </a:r>
            <a:r>
              <a:rPr lang="en-US" altLang="ko-KR" dirty="0"/>
              <a:t>, </a:t>
            </a:r>
            <a:r>
              <a:rPr lang="ko-KR" altLang="en-US" dirty="0"/>
              <a:t>장비 도입 제한</a:t>
            </a:r>
            <a:endParaRPr lang="en-US" altLang="ko-KR" dirty="0"/>
          </a:p>
          <a:p>
            <a:r>
              <a:rPr lang="ko-KR" altLang="en-US" dirty="0"/>
              <a:t>일반적으로 보안 담당 인력 부재</a:t>
            </a:r>
            <a:r>
              <a:rPr lang="en-US" altLang="ko-KR" dirty="0"/>
              <a:t>/</a:t>
            </a:r>
            <a:r>
              <a:rPr lang="ko-KR" altLang="en-US" dirty="0"/>
              <a:t>부족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공격자는 규모를 가리지 않는다</a:t>
            </a:r>
            <a:endParaRPr lang="en-US" altLang="ko-KR" b="1" dirty="0"/>
          </a:p>
          <a:p>
            <a:r>
              <a:rPr lang="ko-KR" altLang="en-US" dirty="0"/>
              <a:t>공개된 취약점을 악용해 </a:t>
            </a:r>
            <a:r>
              <a:rPr lang="en-US" altLang="ko-KR" dirty="0"/>
              <a:t>AI</a:t>
            </a:r>
            <a:r>
              <a:rPr lang="ko-KR" altLang="en-US" dirty="0"/>
              <a:t>를 활용한 대규모 취약점 스캐닝으로 취약점을 빠르게 탐지</a:t>
            </a:r>
            <a:endParaRPr lang="en-US" altLang="ko-KR" dirty="0"/>
          </a:p>
          <a:p>
            <a:r>
              <a:rPr lang="ko-KR" altLang="en-US" dirty="0"/>
              <a:t>네트워크 침입 및 자산 침해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BE48A68D-BD10-FD92-9FB4-59C90246E990}"/>
              </a:ext>
            </a:extLst>
          </p:cNvPr>
          <p:cNvSpPr txBox="1">
            <a:spLocks/>
          </p:cNvSpPr>
          <p:nvPr/>
        </p:nvSpPr>
        <p:spPr>
          <a:xfrm>
            <a:off x="633379" y="2323998"/>
            <a:ext cx="4666247" cy="4192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기업 및 국가의 대응</a:t>
            </a:r>
            <a:endParaRPr lang="en-US" altLang="ko-KR" b="1" dirty="0"/>
          </a:p>
          <a:p>
            <a:pPr marL="0" indent="0">
              <a:buNone/>
            </a:pPr>
            <a:endParaRPr lang="en-US" altLang="ko-KR" sz="100" b="1" dirty="0"/>
          </a:p>
          <a:p>
            <a:r>
              <a:rPr lang="ko-KR" altLang="en-US" dirty="0"/>
              <a:t>기업 간 대규모 통합 방어 체계 구축</a:t>
            </a:r>
            <a:endParaRPr lang="en-US" altLang="ko-KR" dirty="0"/>
          </a:p>
          <a:p>
            <a:r>
              <a:rPr lang="en-US" altLang="ko-KR" dirty="0"/>
              <a:t>24/7 </a:t>
            </a:r>
            <a:r>
              <a:rPr lang="ko-KR" altLang="en-US" dirty="0"/>
              <a:t>전담 보안 운영 센터 인력 및 사고 대응 인력 확보</a:t>
            </a:r>
            <a:endParaRPr lang="en-US" altLang="ko-KR" dirty="0"/>
          </a:p>
          <a:p>
            <a:r>
              <a:rPr lang="ko-KR" altLang="en-US" dirty="0"/>
              <a:t>고성능 </a:t>
            </a:r>
            <a:r>
              <a:rPr lang="en-US" altLang="ko-KR" dirty="0"/>
              <a:t>LLM</a:t>
            </a:r>
            <a:r>
              <a:rPr lang="ko-KR" altLang="en-US" dirty="0"/>
              <a:t>에 우선 액세스</a:t>
            </a:r>
            <a:endParaRPr lang="en-US" altLang="ko-KR" dirty="0"/>
          </a:p>
          <a:p>
            <a:r>
              <a:rPr lang="ko-KR" altLang="en-US" dirty="0"/>
              <a:t>가용한 비용 측면에서 풍족</a:t>
            </a:r>
            <a:endParaRPr lang="en-US" altLang="ko-KR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35B6D486-CB55-4B14-1687-387C319C0EBE}"/>
              </a:ext>
            </a:extLst>
          </p:cNvPr>
          <p:cNvSpPr txBox="1">
            <a:spLocks/>
          </p:cNvSpPr>
          <p:nvPr/>
        </p:nvSpPr>
        <p:spPr>
          <a:xfrm>
            <a:off x="633379" y="148741"/>
            <a:ext cx="4666247" cy="1216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/>
              <a:t>기술 배경 및 문제 제기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032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97"/>
    </mc:Choice>
    <mc:Fallback xmlns="">
      <p:transition spd="slow" advTm="1319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009A1-F386-1166-C3D8-531D33EB5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957E7807-3D3E-691B-CB2C-64A89C517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>
            <a:normAutofit/>
          </a:bodyPr>
          <a:lstStyle/>
          <a:p>
            <a:r>
              <a:rPr lang="en-US" altLang="ko-KR" dirty="0"/>
              <a:t>’26h1 </a:t>
            </a:r>
            <a:r>
              <a:rPr lang="en-US" altLang="ko-KR" dirty="0" err="1"/>
              <a:t>AISecapp</a:t>
            </a:r>
            <a:r>
              <a:rPr lang="en-US" altLang="ko-KR" dirty="0"/>
              <a:t> proposal presentation</a:t>
            </a:r>
            <a:endParaRPr lang="ko-KR" altLang="en-US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2C4179E9-2827-A445-7983-B1502697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463075"/>
            <a:ext cx="710647" cy="2211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5E2CD9AF-B1E3-0173-AA38-A385718034B4}"/>
              </a:ext>
            </a:extLst>
          </p:cNvPr>
          <p:cNvSpPr txBox="1">
            <a:spLocks/>
          </p:cNvSpPr>
          <p:nvPr/>
        </p:nvSpPr>
        <p:spPr>
          <a:xfrm>
            <a:off x="218647" y="1758463"/>
            <a:ext cx="11457202" cy="1122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/>
              <a:t>문제 해결 제안</a:t>
            </a:r>
            <a:r>
              <a:rPr lang="en-US" altLang="ko-KR" b="1" dirty="0"/>
              <a:t>:</a:t>
            </a:r>
          </a:p>
          <a:p>
            <a:pPr marL="0" indent="0" algn="ctr">
              <a:buNone/>
            </a:pPr>
            <a:r>
              <a:rPr lang="en-US" altLang="ko-KR" b="1" dirty="0"/>
              <a:t> “</a:t>
            </a:r>
            <a:r>
              <a:rPr lang="ko-KR" altLang="en-US" b="1" dirty="0"/>
              <a:t>소규모 조직이 활용할 수 있는 네트워크 보안 경보 파이프라인 구축</a:t>
            </a:r>
            <a:r>
              <a:rPr lang="en-US" altLang="ko-KR" b="1" dirty="0"/>
              <a:t>”</a:t>
            </a:r>
          </a:p>
          <a:p>
            <a:pPr marL="0" indent="0" algn="ctr">
              <a:buNone/>
            </a:pPr>
            <a:r>
              <a:rPr lang="en-US" altLang="ko-KR" sz="100" b="1" dirty="0"/>
              <a:t> </a:t>
            </a:r>
            <a:r>
              <a:rPr lang="ko-KR" altLang="en-US" sz="100" b="1" dirty="0"/>
              <a:t>구</a:t>
            </a:r>
            <a:endParaRPr lang="en-US" altLang="ko-KR" sz="100" b="1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6983DDB1-C558-7F47-0844-56705DD8B063}"/>
              </a:ext>
            </a:extLst>
          </p:cNvPr>
          <p:cNvSpPr txBox="1">
            <a:spLocks/>
          </p:cNvSpPr>
          <p:nvPr/>
        </p:nvSpPr>
        <p:spPr>
          <a:xfrm>
            <a:off x="633378" y="148741"/>
            <a:ext cx="6306683" cy="1216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/>
              <a:t>문제 해결 방식 제안과 탐색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FA7E1AA-A6B4-B7DE-9244-616582A2573D}"/>
              </a:ext>
            </a:extLst>
          </p:cNvPr>
          <p:cNvCxnSpPr>
            <a:cxnSpLocks/>
          </p:cNvCxnSpPr>
          <p:nvPr/>
        </p:nvCxnSpPr>
        <p:spPr>
          <a:xfrm>
            <a:off x="5839326" y="2881117"/>
            <a:ext cx="0" cy="3803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C5629E5-66A1-ABD4-6939-F3E9141D2E77}"/>
              </a:ext>
            </a:extLst>
          </p:cNvPr>
          <p:cNvSpPr txBox="1">
            <a:spLocks/>
          </p:cNvSpPr>
          <p:nvPr/>
        </p:nvSpPr>
        <p:spPr>
          <a:xfrm>
            <a:off x="618380" y="3094892"/>
            <a:ext cx="4666247" cy="3467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규칙 기반 방화벽</a:t>
            </a:r>
            <a:r>
              <a:rPr lang="en-US" altLang="ko-KR" b="1" dirty="0"/>
              <a:t>?</a:t>
            </a:r>
          </a:p>
          <a:p>
            <a:pPr marL="0" indent="0">
              <a:buNone/>
            </a:pPr>
            <a:endParaRPr lang="en-US" altLang="ko-KR" sz="100" b="1" dirty="0"/>
          </a:p>
          <a:p>
            <a:r>
              <a:rPr lang="ko-KR" altLang="en-US" dirty="0"/>
              <a:t>일반적으로 소규모 조직도 기본적인 방화벽</a:t>
            </a:r>
            <a:r>
              <a:rPr lang="en-US" altLang="ko-KR" dirty="0"/>
              <a:t>(FW/UTM)</a:t>
            </a:r>
            <a:r>
              <a:rPr lang="ko-KR" altLang="en-US" dirty="0"/>
              <a:t>은 갖추고 있음</a:t>
            </a:r>
            <a:endParaRPr lang="en-US" altLang="ko-KR" dirty="0"/>
          </a:p>
          <a:p>
            <a:r>
              <a:rPr lang="ko-KR" altLang="en-US" dirty="0"/>
              <a:t>규칙 기반 방화벽은 공격자 입장에서 비교적 쉬운 우회 가능</a:t>
            </a:r>
            <a:endParaRPr lang="en-US" altLang="ko-KR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50E04951-8BE8-11C8-2FCD-1C232452F0D5}"/>
              </a:ext>
            </a:extLst>
          </p:cNvPr>
          <p:cNvSpPr txBox="1">
            <a:spLocks/>
          </p:cNvSpPr>
          <p:nvPr/>
        </p:nvSpPr>
        <p:spPr>
          <a:xfrm>
            <a:off x="6362698" y="3094892"/>
            <a:ext cx="4666247" cy="3467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ML </a:t>
            </a:r>
            <a:r>
              <a:rPr lang="ko-KR" altLang="en-US" b="1" dirty="0"/>
              <a:t>탐지 모델 적용</a:t>
            </a:r>
            <a:r>
              <a:rPr lang="en-US" altLang="ko-KR" b="1" dirty="0"/>
              <a:t>?</a:t>
            </a:r>
            <a:endParaRPr lang="en-US" altLang="ko-KR" sz="100" b="1" dirty="0"/>
          </a:p>
          <a:p>
            <a:r>
              <a:rPr lang="ko-KR" altLang="en-US" dirty="0"/>
              <a:t>볼륨 공격</a:t>
            </a:r>
            <a:r>
              <a:rPr lang="en-US" altLang="ko-KR" dirty="0"/>
              <a:t>(DDoS, Brute Force) F1 1.00</a:t>
            </a:r>
            <a:r>
              <a:rPr lang="ko-KR" altLang="en-US" dirty="0"/>
              <a:t>에 근접</a:t>
            </a:r>
            <a:r>
              <a:rPr lang="en-US" altLang="ko-KR" dirty="0"/>
              <a:t>, </a:t>
            </a:r>
            <a:r>
              <a:rPr lang="ko-KR" altLang="en-US" dirty="0"/>
              <a:t>하지만 교활한 공격 </a:t>
            </a:r>
            <a:r>
              <a:rPr lang="en-US" altLang="ko-KR" dirty="0"/>
              <a:t>F1 0.00~0.45</a:t>
            </a:r>
            <a:r>
              <a:rPr lang="en-US" altLang="ko-KR" i="1" dirty="0"/>
              <a:t>*</a:t>
            </a:r>
          </a:p>
          <a:p>
            <a:r>
              <a:rPr lang="en-US" altLang="ko-KR" dirty="0"/>
              <a:t>ML </a:t>
            </a:r>
            <a:r>
              <a:rPr lang="ko-KR" altLang="en-US" dirty="0"/>
              <a:t>단독으로는 구조적 누락 불가피</a:t>
            </a:r>
            <a:endParaRPr lang="en-US" altLang="ko-KR" dirty="0"/>
          </a:p>
          <a:p>
            <a:r>
              <a:rPr lang="en-US" altLang="ko-KR" dirty="0"/>
              <a:t>ML IDS</a:t>
            </a:r>
            <a:r>
              <a:rPr lang="ko-KR" altLang="en-US" dirty="0"/>
              <a:t>는 </a:t>
            </a:r>
            <a:r>
              <a:rPr lang="en-US" altLang="ko-KR" dirty="0"/>
              <a:t>CVE </a:t>
            </a:r>
            <a:r>
              <a:rPr lang="ko-KR" altLang="en-US" dirty="0"/>
              <a:t>공지</a:t>
            </a:r>
            <a:r>
              <a:rPr lang="en-US" altLang="ko-KR" dirty="0"/>
              <a:t>, </a:t>
            </a:r>
            <a:r>
              <a:rPr lang="ko-KR" altLang="en-US" dirty="0"/>
              <a:t>자산</a:t>
            </a:r>
            <a:r>
              <a:rPr lang="en-US" altLang="ko-KR" dirty="0"/>
              <a:t>, </a:t>
            </a:r>
            <a:r>
              <a:rPr lang="ko-KR" altLang="en-US" dirty="0"/>
              <a:t>위협 인텔</a:t>
            </a:r>
            <a:r>
              <a:rPr lang="en-US" altLang="ko-KR" dirty="0"/>
              <a:t>, </a:t>
            </a:r>
            <a:r>
              <a:rPr lang="ko-KR" altLang="en-US" dirty="0"/>
              <a:t>시간 등의 다양한 컨텍스트를 고려할 수 없음</a:t>
            </a:r>
            <a:endParaRPr lang="en-US" altLang="ko-KR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5471A9-61D0-9219-4FBE-6254F477FDDF}"/>
              </a:ext>
            </a:extLst>
          </p:cNvPr>
          <p:cNvSpPr/>
          <p:nvPr/>
        </p:nvSpPr>
        <p:spPr>
          <a:xfrm>
            <a:off x="633378" y="1629508"/>
            <a:ext cx="11042474" cy="11188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2D058B-AA0F-3713-5BDF-3DE9F79042AA}"/>
              </a:ext>
            </a:extLst>
          </p:cNvPr>
          <p:cNvSpPr txBox="1"/>
          <p:nvPr/>
        </p:nvSpPr>
        <p:spPr>
          <a:xfrm>
            <a:off x="7100479" y="6217605"/>
            <a:ext cx="412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* </a:t>
            </a:r>
            <a:r>
              <a:rPr lang="en-US" altLang="ko-KR" sz="1100" dirty="0"/>
              <a:t>NF-CIC-IDS-2018</a:t>
            </a:r>
            <a:r>
              <a:rPr lang="ko-KR" altLang="en-US" sz="1100" dirty="0"/>
              <a:t> 데이터셋</a:t>
            </a:r>
            <a:r>
              <a:rPr lang="en-US" altLang="ko-KR" sz="1100" dirty="0"/>
              <a:t> </a:t>
            </a:r>
            <a:r>
              <a:rPr lang="en-US" altLang="ko-KR" sz="1100" dirty="0" err="1"/>
              <a:t>XGBoost</a:t>
            </a:r>
            <a:r>
              <a:rPr lang="ko-KR" altLang="en-US" sz="1100" dirty="0"/>
              <a:t> 기반 분류 실험 결과</a:t>
            </a:r>
          </a:p>
        </p:txBody>
      </p:sp>
    </p:spTree>
    <p:extLst>
      <p:ext uri="{BB962C8B-B14F-4D97-AF65-F5344CB8AC3E}">
        <p14:creationId xmlns:p14="http://schemas.microsoft.com/office/powerpoint/2010/main" val="396094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97"/>
    </mc:Choice>
    <mc:Fallback xmlns="">
      <p:transition spd="slow" advTm="1319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DBB2-16A4-94A6-5AC3-665F6E5E3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9FCEED47-CF16-1CAC-B292-B468F5E7A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>
            <a:normAutofit/>
          </a:bodyPr>
          <a:lstStyle/>
          <a:p>
            <a:r>
              <a:rPr lang="en-US" altLang="ko-KR" dirty="0"/>
              <a:t>’26h1 </a:t>
            </a:r>
            <a:r>
              <a:rPr lang="en-US" altLang="ko-KR" dirty="0" err="1"/>
              <a:t>AISecapp</a:t>
            </a:r>
            <a:r>
              <a:rPr lang="en-US" altLang="ko-KR" dirty="0"/>
              <a:t> proposal presentation</a:t>
            </a:r>
            <a:endParaRPr lang="ko-KR" altLang="en-US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BB680614-A1E9-EA01-5AA9-DBBF3ED9D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463075"/>
            <a:ext cx="710647" cy="2211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E1CCD6AB-259A-260A-67AD-57D6F6C90A13}"/>
              </a:ext>
            </a:extLst>
          </p:cNvPr>
          <p:cNvSpPr txBox="1">
            <a:spLocks/>
          </p:cNvSpPr>
          <p:nvPr/>
        </p:nvSpPr>
        <p:spPr>
          <a:xfrm>
            <a:off x="218647" y="1758463"/>
            <a:ext cx="11457202" cy="1122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/>
              <a:t>문제 해결 제안</a:t>
            </a:r>
            <a:r>
              <a:rPr lang="en-US" altLang="ko-KR" b="1" dirty="0"/>
              <a:t>:</a:t>
            </a:r>
          </a:p>
          <a:p>
            <a:pPr marL="0" indent="0" algn="ctr">
              <a:buNone/>
            </a:pPr>
            <a:r>
              <a:rPr lang="en-US" altLang="ko-KR" b="1" dirty="0"/>
              <a:t> “</a:t>
            </a:r>
            <a:r>
              <a:rPr lang="ko-KR" altLang="en-US" b="1" dirty="0"/>
              <a:t>소규모 조직이 활용할 수 있는 네트워크 보안 경보 파이프라인 구축</a:t>
            </a:r>
            <a:r>
              <a:rPr lang="en-US" altLang="ko-KR" b="1" dirty="0"/>
              <a:t>”</a:t>
            </a:r>
          </a:p>
          <a:p>
            <a:pPr marL="0" indent="0" algn="ctr">
              <a:buNone/>
            </a:pPr>
            <a:r>
              <a:rPr lang="en-US" altLang="ko-KR" sz="100" b="1" dirty="0"/>
              <a:t> </a:t>
            </a:r>
            <a:r>
              <a:rPr lang="ko-KR" altLang="en-US" sz="100" b="1" dirty="0"/>
              <a:t>구</a:t>
            </a:r>
            <a:endParaRPr lang="en-US" altLang="ko-KR" sz="100" b="1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F3030B64-6DB2-C1FB-3643-71DBFE503625}"/>
              </a:ext>
            </a:extLst>
          </p:cNvPr>
          <p:cNvSpPr txBox="1">
            <a:spLocks/>
          </p:cNvSpPr>
          <p:nvPr/>
        </p:nvSpPr>
        <p:spPr>
          <a:xfrm>
            <a:off x="633378" y="148741"/>
            <a:ext cx="6306683" cy="1216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/>
              <a:t>문제 해결 방식 제안과 탐색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7297718-941D-F83F-CF4A-96ACC80E41BC}"/>
              </a:ext>
            </a:extLst>
          </p:cNvPr>
          <p:cNvCxnSpPr>
            <a:cxnSpLocks/>
          </p:cNvCxnSpPr>
          <p:nvPr/>
        </p:nvCxnSpPr>
        <p:spPr>
          <a:xfrm>
            <a:off x="5839326" y="2881117"/>
            <a:ext cx="0" cy="3803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82B78C0-D92E-1B63-977F-B76F37F51AF8}"/>
              </a:ext>
            </a:extLst>
          </p:cNvPr>
          <p:cNvSpPr txBox="1">
            <a:spLocks/>
          </p:cNvSpPr>
          <p:nvPr/>
        </p:nvSpPr>
        <p:spPr>
          <a:xfrm>
            <a:off x="618380" y="3094892"/>
            <a:ext cx="4666247" cy="3467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여전히 남는 방어자의 비대칭 우위</a:t>
            </a:r>
            <a:endParaRPr lang="en-US" altLang="ko-KR" sz="100" b="1" dirty="0"/>
          </a:p>
          <a:p>
            <a:pPr marL="0" indent="0">
              <a:buNone/>
            </a:pPr>
            <a:endParaRPr lang="en-US" altLang="ko-KR" sz="100" b="1" dirty="0"/>
          </a:p>
          <a:p>
            <a:r>
              <a:rPr lang="ko-KR" altLang="en-US" dirty="0"/>
              <a:t>조직 내부 자산</a:t>
            </a:r>
            <a:r>
              <a:rPr lang="en-US" altLang="ko-KR" dirty="0"/>
              <a:t>·</a:t>
            </a:r>
            <a:r>
              <a:rPr lang="ko-KR" altLang="en-US" dirty="0"/>
              <a:t>코드</a:t>
            </a:r>
            <a:r>
              <a:rPr lang="en-US" altLang="ko-KR" dirty="0"/>
              <a:t>·</a:t>
            </a:r>
            <a:r>
              <a:rPr lang="ko-KR" altLang="en-US" dirty="0"/>
              <a:t>정책</a:t>
            </a:r>
            <a:r>
              <a:rPr lang="en-US" altLang="ko-KR" dirty="0"/>
              <a:t>·</a:t>
            </a:r>
            <a:r>
              <a:rPr lang="ko-KR" altLang="en-US" dirty="0"/>
              <a:t>토폴로지에 대한 합법적 전체 접근 권한 </a:t>
            </a:r>
            <a:r>
              <a:rPr lang="en-US" altLang="ko-KR" dirty="0"/>
              <a:t>(Context)</a:t>
            </a:r>
          </a:p>
          <a:p>
            <a:r>
              <a:rPr lang="ko-KR" altLang="en-US" dirty="0"/>
              <a:t>공격자는 직접 탐색해야 함</a:t>
            </a:r>
            <a:endParaRPr lang="en-US" altLang="ko-KR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9A62B5E-CBED-94F6-ABCD-03B4E6A37154}"/>
              </a:ext>
            </a:extLst>
          </p:cNvPr>
          <p:cNvSpPr txBox="1">
            <a:spLocks/>
          </p:cNvSpPr>
          <p:nvPr/>
        </p:nvSpPr>
        <p:spPr>
          <a:xfrm>
            <a:off x="6362698" y="3094892"/>
            <a:ext cx="4666247" cy="3467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LLM</a:t>
            </a:r>
            <a:r>
              <a:rPr lang="ko-KR" altLang="en-US" b="1" dirty="0"/>
              <a:t>에 컨텍스트 기반 판정을 맡긴다면</a:t>
            </a:r>
            <a:r>
              <a:rPr lang="en-US" altLang="ko-KR" b="1" dirty="0"/>
              <a:t>?</a:t>
            </a:r>
            <a:endParaRPr lang="en-US" altLang="ko-KR" sz="100" b="1" dirty="0"/>
          </a:p>
          <a:p>
            <a:r>
              <a:rPr lang="ko-KR" altLang="en-US" dirty="0"/>
              <a:t>토큰 사용량 폭발</a:t>
            </a:r>
            <a:endParaRPr lang="en-US" altLang="ko-KR" dirty="0"/>
          </a:p>
          <a:p>
            <a:r>
              <a:rPr lang="ko-KR" altLang="en-US" dirty="0"/>
              <a:t>소규모 조직일지라도 네트워크 트래픽은 많이 발생할 수 있음</a:t>
            </a:r>
            <a:endParaRPr lang="en-US" altLang="ko-KR" dirty="0"/>
          </a:p>
          <a:p>
            <a:r>
              <a:rPr lang="ko-KR" altLang="en-US" dirty="0"/>
              <a:t>저용량 모델만 사용 시 판정 품질 하락</a:t>
            </a:r>
            <a:endParaRPr lang="en-US" altLang="ko-KR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0CED9B8-DE53-CC0C-10C6-4EBBD0ECA773}"/>
              </a:ext>
            </a:extLst>
          </p:cNvPr>
          <p:cNvSpPr/>
          <p:nvPr/>
        </p:nvSpPr>
        <p:spPr>
          <a:xfrm>
            <a:off x="633378" y="1629508"/>
            <a:ext cx="11042474" cy="11188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43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97"/>
    </mc:Choice>
    <mc:Fallback xmlns="">
      <p:transition spd="slow" advTm="1319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942F0-0995-DDFC-2B91-4F6D2A315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63B2D7AC-7CDE-3BE7-81B5-C195A692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>
            <a:normAutofit/>
          </a:bodyPr>
          <a:lstStyle/>
          <a:p>
            <a:r>
              <a:rPr lang="en-US" altLang="ko-KR" dirty="0"/>
              <a:t>’26h1 </a:t>
            </a:r>
            <a:r>
              <a:rPr lang="en-US" altLang="ko-KR" dirty="0" err="1"/>
              <a:t>AISecapp</a:t>
            </a:r>
            <a:r>
              <a:rPr lang="en-US" altLang="ko-KR" dirty="0"/>
              <a:t> proposal presentation</a:t>
            </a:r>
            <a:endParaRPr lang="ko-KR" altLang="en-US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099C3AFC-1E5C-962C-520B-80AE02B9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463075"/>
            <a:ext cx="710647" cy="2211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EAEFAF18-D388-143B-F970-E85344F060E8}"/>
              </a:ext>
            </a:extLst>
          </p:cNvPr>
          <p:cNvSpPr txBox="1">
            <a:spLocks/>
          </p:cNvSpPr>
          <p:nvPr/>
        </p:nvSpPr>
        <p:spPr>
          <a:xfrm>
            <a:off x="218647" y="1758463"/>
            <a:ext cx="11457202" cy="1122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/>
              <a:t>문제 해결 제안</a:t>
            </a:r>
            <a:r>
              <a:rPr lang="en-US" altLang="ko-KR" b="1" dirty="0"/>
              <a:t>:</a:t>
            </a:r>
          </a:p>
          <a:p>
            <a:pPr marL="0" indent="0" algn="ctr">
              <a:buNone/>
            </a:pPr>
            <a:r>
              <a:rPr lang="en-US" altLang="ko-KR" b="1" dirty="0"/>
              <a:t> “</a:t>
            </a:r>
            <a:r>
              <a:rPr lang="ko-KR" altLang="en-US" b="1" dirty="0"/>
              <a:t>소규모 조직이 활용할 수 있는 </a:t>
            </a:r>
            <a:r>
              <a:rPr lang="en-US" altLang="ko-KR" b="1" dirty="0">
                <a:solidFill>
                  <a:schemeClr val="accent5"/>
                </a:solidFill>
              </a:rPr>
              <a:t>ML + </a:t>
            </a:r>
            <a:r>
              <a:rPr lang="ko-KR" altLang="en-US" b="1" dirty="0" err="1">
                <a:solidFill>
                  <a:schemeClr val="accent5"/>
                </a:solidFill>
              </a:rPr>
              <a:t>다계층</a:t>
            </a:r>
            <a:r>
              <a:rPr lang="ko-KR" altLang="en-US" b="1" dirty="0">
                <a:solidFill>
                  <a:schemeClr val="accent5"/>
                </a:solidFill>
              </a:rPr>
              <a:t> </a:t>
            </a:r>
            <a:r>
              <a:rPr lang="en-US" altLang="ko-KR" b="1" dirty="0">
                <a:solidFill>
                  <a:schemeClr val="accent5"/>
                </a:solidFill>
              </a:rPr>
              <a:t>LLM</a:t>
            </a:r>
            <a:r>
              <a:rPr lang="ko-KR" altLang="en-US" b="1" dirty="0">
                <a:solidFill>
                  <a:schemeClr val="accent5"/>
                </a:solidFill>
              </a:rPr>
              <a:t>으로 구성된</a:t>
            </a:r>
            <a:r>
              <a:rPr lang="ko-KR" altLang="en-US" b="1" dirty="0"/>
              <a:t> 네트워크 보안 경보 파이프라인 구축</a:t>
            </a:r>
            <a:r>
              <a:rPr lang="en-US" altLang="ko-KR" b="1" dirty="0"/>
              <a:t>”</a:t>
            </a:r>
          </a:p>
          <a:p>
            <a:pPr marL="0" indent="0" algn="ctr">
              <a:buNone/>
            </a:pPr>
            <a:r>
              <a:rPr lang="en-US" altLang="ko-KR" sz="100" b="1" dirty="0"/>
              <a:t> </a:t>
            </a:r>
            <a:r>
              <a:rPr lang="ko-KR" altLang="en-US" sz="100" b="1" dirty="0"/>
              <a:t>구</a:t>
            </a:r>
            <a:endParaRPr lang="en-US" altLang="ko-KR" sz="100" b="1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D5F2FED6-1292-71E1-751B-54346481DD52}"/>
              </a:ext>
            </a:extLst>
          </p:cNvPr>
          <p:cNvSpPr txBox="1">
            <a:spLocks/>
          </p:cNvSpPr>
          <p:nvPr/>
        </p:nvSpPr>
        <p:spPr>
          <a:xfrm>
            <a:off x="633378" y="148741"/>
            <a:ext cx="6306683" cy="1216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/>
              <a:t>문제 해결 방식 제안과 탐색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7EE1286-C68B-4864-06AC-9C128CE887F0}"/>
              </a:ext>
            </a:extLst>
          </p:cNvPr>
          <p:cNvSpPr txBox="1">
            <a:spLocks/>
          </p:cNvSpPr>
          <p:nvPr/>
        </p:nvSpPr>
        <p:spPr>
          <a:xfrm>
            <a:off x="618380" y="3094892"/>
            <a:ext cx="10989848" cy="3467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방어자의 이점을 살리고</a:t>
            </a:r>
            <a:r>
              <a:rPr lang="en-US" altLang="ko-KR" b="1" dirty="0"/>
              <a:t>, </a:t>
            </a:r>
            <a:r>
              <a:rPr lang="ko-KR" altLang="en-US" b="1" dirty="0"/>
              <a:t>비용과 기술을 고려하여 현실적인 구조를 설계하기</a:t>
            </a:r>
            <a:endParaRPr lang="en-US" altLang="ko-KR" sz="100" b="1" dirty="0"/>
          </a:p>
          <a:p>
            <a:pPr marL="0" indent="0">
              <a:buNone/>
            </a:pPr>
            <a:endParaRPr lang="en-US" altLang="ko-KR" sz="100" b="1" dirty="0"/>
          </a:p>
          <a:p>
            <a:r>
              <a:rPr lang="en-US" altLang="ko-KR" b="1" dirty="0"/>
              <a:t>Tier2(Frontier) LLM – </a:t>
            </a:r>
            <a:r>
              <a:rPr lang="ko-KR" altLang="en-US" b="1" dirty="0"/>
              <a:t>방어 전략 </a:t>
            </a:r>
            <a:r>
              <a:rPr lang="ko-KR" altLang="en-US" b="1" dirty="0" err="1"/>
              <a:t>수립자</a:t>
            </a:r>
            <a:r>
              <a:rPr lang="en-US" altLang="ko-KR" b="1" dirty="0"/>
              <a:t>, </a:t>
            </a:r>
            <a:r>
              <a:rPr lang="ko-KR" altLang="en-US" b="1" dirty="0"/>
              <a:t>보고자</a:t>
            </a:r>
            <a:endParaRPr lang="en-US" altLang="ko-KR" b="1" dirty="0"/>
          </a:p>
          <a:p>
            <a:pPr lvl="1"/>
            <a:r>
              <a:rPr lang="ko-KR" altLang="en-US" dirty="0"/>
              <a:t>방어자가 가진 자산 카탈로그</a:t>
            </a:r>
            <a:r>
              <a:rPr lang="en-US" altLang="ko-KR" dirty="0"/>
              <a:t>, </a:t>
            </a:r>
            <a:r>
              <a:rPr lang="ko-KR" altLang="en-US" dirty="0"/>
              <a:t>영향 </a:t>
            </a:r>
            <a:r>
              <a:rPr lang="en-US" altLang="ko-KR" dirty="0"/>
              <a:t>CVE, </a:t>
            </a:r>
            <a:r>
              <a:rPr lang="ko-KR" altLang="en-US" dirty="0"/>
              <a:t>접근 정책</a:t>
            </a:r>
            <a:r>
              <a:rPr lang="en-US" altLang="ko-KR" dirty="0"/>
              <a:t> </a:t>
            </a:r>
            <a:r>
              <a:rPr lang="ko-KR" altLang="en-US" dirty="0"/>
              <a:t>등을 바탕으로 방어 전략 수립</a:t>
            </a:r>
            <a:r>
              <a:rPr lang="en-US" altLang="ko-KR" dirty="0"/>
              <a:t>, Watchlist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ko-KR" altLang="en-US" dirty="0" err="1"/>
              <a:t>비전문</a:t>
            </a:r>
            <a:r>
              <a:rPr lang="ko-KR" altLang="en-US" dirty="0"/>
              <a:t> 인력이 읽을 수 있는 </a:t>
            </a:r>
            <a:r>
              <a:rPr lang="en-US" altLang="ko-KR" dirty="0"/>
              <a:t>Summary</a:t>
            </a:r>
            <a:r>
              <a:rPr lang="ko-KR" altLang="en-US" dirty="0"/>
              <a:t> 생성</a:t>
            </a:r>
            <a:endParaRPr lang="en-US" altLang="ko-KR" dirty="0"/>
          </a:p>
          <a:p>
            <a:r>
              <a:rPr lang="en-US" altLang="ko-KR" b="1" dirty="0"/>
              <a:t>Tier1(Efficient) LLM – </a:t>
            </a:r>
            <a:r>
              <a:rPr lang="ko-KR" altLang="en-US" b="1" dirty="0"/>
              <a:t>실시간 </a:t>
            </a:r>
            <a:r>
              <a:rPr lang="ko-KR" altLang="en-US" b="1" dirty="0" err="1"/>
              <a:t>판정자</a:t>
            </a:r>
            <a:endParaRPr lang="en-US" altLang="ko-KR" b="1" dirty="0"/>
          </a:p>
          <a:p>
            <a:pPr lvl="1"/>
            <a:r>
              <a:rPr lang="en-US" altLang="ko-KR" dirty="0"/>
              <a:t>Tier2 LLM</a:t>
            </a:r>
            <a:r>
              <a:rPr lang="ko-KR" altLang="en-US" dirty="0"/>
              <a:t>이 생성한 </a:t>
            </a:r>
            <a:r>
              <a:rPr lang="en-US" altLang="ko-KR" dirty="0"/>
              <a:t>Watchlist </a:t>
            </a:r>
            <a:r>
              <a:rPr lang="ko-KR" altLang="en-US" dirty="0"/>
              <a:t>및 </a:t>
            </a:r>
            <a:r>
              <a:rPr lang="en-US" altLang="ko-KR" dirty="0"/>
              <a:t>Context</a:t>
            </a:r>
            <a:r>
              <a:rPr lang="ko-KR" altLang="en-US" dirty="0"/>
              <a:t>를 바탕으로 실시간 판정</a:t>
            </a:r>
            <a:r>
              <a:rPr lang="en-US" altLang="ko-KR" dirty="0"/>
              <a:t>, </a:t>
            </a:r>
            <a:r>
              <a:rPr lang="ko-KR" altLang="en-US" dirty="0"/>
              <a:t>문제 내용을 </a:t>
            </a:r>
            <a:r>
              <a:rPr lang="en-US" altLang="ko-KR" dirty="0"/>
              <a:t>DB</a:t>
            </a:r>
            <a:r>
              <a:rPr lang="ko-KR" altLang="en-US" dirty="0"/>
              <a:t>에 저장</a:t>
            </a:r>
            <a:endParaRPr lang="en-US" altLang="ko-KR" dirty="0"/>
          </a:p>
          <a:p>
            <a:r>
              <a:rPr lang="ko-KR" altLang="en-US" dirty="0"/>
              <a:t>빠르고 비용 효율적인 </a:t>
            </a:r>
            <a:r>
              <a:rPr lang="en-US" altLang="ko-KR" b="1" dirty="0"/>
              <a:t>ML </a:t>
            </a:r>
            <a:r>
              <a:rPr lang="ko-KR" altLang="en-US" b="1" dirty="0"/>
              <a:t>레이어</a:t>
            </a:r>
            <a:r>
              <a:rPr lang="en-US" altLang="ko-KR" dirty="0"/>
              <a:t>(</a:t>
            </a:r>
            <a:r>
              <a:rPr lang="en-US" altLang="ko-KR" dirty="0" err="1"/>
              <a:t>XGBoost</a:t>
            </a:r>
            <a:r>
              <a:rPr lang="en-US" altLang="ko-KR" dirty="0"/>
              <a:t> </a:t>
            </a:r>
            <a:r>
              <a:rPr lang="ko-KR" altLang="en-US" dirty="0"/>
              <a:t>이진 분류</a:t>
            </a:r>
            <a:r>
              <a:rPr lang="en-US" altLang="ko-KR" dirty="0"/>
              <a:t>) </a:t>
            </a:r>
            <a:r>
              <a:rPr lang="ko-KR" altLang="en-US" dirty="0"/>
              <a:t>▶ </a:t>
            </a:r>
            <a:r>
              <a:rPr lang="en-US" altLang="ko-KR" b="1" dirty="0"/>
              <a:t>Tier1 LLM</a:t>
            </a:r>
            <a:r>
              <a:rPr lang="ko-KR" altLang="en-US" dirty="0"/>
              <a:t>의 실시간 판정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DEEFB3-D6E7-392C-66F8-C3766101F072}"/>
              </a:ext>
            </a:extLst>
          </p:cNvPr>
          <p:cNvSpPr/>
          <p:nvPr/>
        </p:nvSpPr>
        <p:spPr>
          <a:xfrm>
            <a:off x="633378" y="1629508"/>
            <a:ext cx="11042474" cy="11188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725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97"/>
    </mc:Choice>
    <mc:Fallback xmlns="">
      <p:transition spd="slow" advTm="1319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B351C-7B98-2AA2-1316-F53D7E9FC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04DB917F-D880-27D2-C8C3-53846C1F8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>
            <a:normAutofit/>
          </a:bodyPr>
          <a:lstStyle/>
          <a:p>
            <a:r>
              <a:rPr lang="en-US" altLang="ko-KR" dirty="0"/>
              <a:t>’26h1 </a:t>
            </a:r>
            <a:r>
              <a:rPr lang="en-US" altLang="ko-KR" dirty="0" err="1"/>
              <a:t>AISecapp</a:t>
            </a:r>
            <a:r>
              <a:rPr lang="en-US" altLang="ko-KR" dirty="0"/>
              <a:t> proposal presentation</a:t>
            </a:r>
            <a:endParaRPr lang="ko-KR" altLang="en-US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2DECA409-6BED-DCAC-88C6-5F323A54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463075"/>
            <a:ext cx="710647" cy="2211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DBE1854A-FC5C-75D7-9A3E-AD8FB5D8D491}"/>
              </a:ext>
            </a:extLst>
          </p:cNvPr>
          <p:cNvSpPr txBox="1">
            <a:spLocks/>
          </p:cNvSpPr>
          <p:nvPr/>
        </p:nvSpPr>
        <p:spPr>
          <a:xfrm>
            <a:off x="633378" y="148741"/>
            <a:ext cx="6306683" cy="1216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/>
              <a:t>프로젝트 아키텍처 계획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82F5AE-EF13-C686-D49F-A4D7593363EE}"/>
              </a:ext>
            </a:extLst>
          </p:cNvPr>
          <p:cNvSpPr/>
          <p:nvPr/>
        </p:nvSpPr>
        <p:spPr>
          <a:xfrm>
            <a:off x="633378" y="1629507"/>
            <a:ext cx="6543599" cy="48335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DBB3394A-6248-4171-0230-084B93771951}"/>
              </a:ext>
            </a:extLst>
          </p:cNvPr>
          <p:cNvSpPr txBox="1">
            <a:spLocks/>
          </p:cNvSpPr>
          <p:nvPr/>
        </p:nvSpPr>
        <p:spPr>
          <a:xfrm>
            <a:off x="7525753" y="1695471"/>
            <a:ext cx="3872349" cy="4767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&lt; Architecture - Slow Loop &gt;</a:t>
            </a:r>
            <a:endParaRPr lang="en-US" altLang="ko-KR" dirty="0"/>
          </a:p>
          <a:p>
            <a:r>
              <a:rPr lang="ko-KR" altLang="en-US" sz="1600" dirty="0"/>
              <a:t>일정 주기 혹은 중요 위협 요소 갱신 시 실행</a:t>
            </a:r>
            <a:endParaRPr lang="en-US" altLang="ko-KR" sz="1600" dirty="0"/>
          </a:p>
          <a:p>
            <a:r>
              <a:rPr lang="ko-KR" altLang="en-US" sz="1600" dirty="0"/>
              <a:t>주간 </a:t>
            </a:r>
            <a:r>
              <a:rPr lang="en-US" altLang="ko-KR" sz="1600" dirty="0"/>
              <a:t>Summary</a:t>
            </a:r>
          </a:p>
          <a:p>
            <a:pPr lvl="1"/>
            <a:r>
              <a:rPr lang="ko-KR" altLang="en-US" sz="1300" dirty="0"/>
              <a:t>정량 통계</a:t>
            </a:r>
            <a:r>
              <a:rPr lang="en-US" altLang="ko-KR" sz="1300" dirty="0"/>
              <a:t>, </a:t>
            </a:r>
            <a:r>
              <a:rPr lang="ko-KR" altLang="en-US" sz="1300" dirty="0"/>
              <a:t>주목할 공격 흐름</a:t>
            </a:r>
            <a:r>
              <a:rPr lang="en-US" altLang="ko-KR" sz="1300" dirty="0"/>
              <a:t>, </a:t>
            </a:r>
            <a:r>
              <a:rPr lang="ko-KR" altLang="en-US" sz="1300" dirty="0"/>
              <a:t>자산별 리스크</a:t>
            </a:r>
            <a:r>
              <a:rPr lang="en-US" altLang="ko-KR" sz="1300" dirty="0"/>
              <a:t>, Tier 1 </a:t>
            </a:r>
            <a:r>
              <a:rPr lang="ko-KR" altLang="en-US" sz="1300" dirty="0"/>
              <a:t>판정 품질</a:t>
            </a:r>
            <a:r>
              <a:rPr lang="en-US" altLang="ko-KR" sz="1300" dirty="0"/>
              <a:t>, </a:t>
            </a:r>
            <a:r>
              <a:rPr lang="ko-KR" altLang="en-US" sz="1300" dirty="0"/>
              <a:t>권장 정책 조정</a:t>
            </a:r>
            <a:endParaRPr lang="en-US" altLang="ko-KR" sz="1300" dirty="0"/>
          </a:p>
          <a:p>
            <a:r>
              <a:rPr lang="en-US" altLang="ko-KR" sz="1600" dirty="0"/>
              <a:t>Attack Surface Memory</a:t>
            </a:r>
          </a:p>
          <a:p>
            <a:pPr lvl="1"/>
            <a:r>
              <a:rPr lang="ko-KR" altLang="en-US" sz="1300" dirty="0"/>
              <a:t>자산별 공격 노출 지점 서술</a:t>
            </a:r>
            <a:endParaRPr lang="en-US" altLang="ko-KR" sz="1300" dirty="0"/>
          </a:p>
          <a:p>
            <a:pPr lvl="1"/>
            <a:r>
              <a:rPr lang="ko-KR" altLang="en-US" sz="1300" dirty="0"/>
              <a:t>스스로 참고하고 이전 역사를 기록 및 정리하여 장기간의 맥락을 유지</a:t>
            </a:r>
            <a:endParaRPr lang="en-US" altLang="ko-KR" sz="1300" dirty="0"/>
          </a:p>
          <a:p>
            <a:r>
              <a:rPr lang="en-US" altLang="ko-KR" sz="1600" dirty="0"/>
              <a:t>Watchlist &amp; Contexts</a:t>
            </a:r>
          </a:p>
          <a:p>
            <a:pPr lvl="1"/>
            <a:r>
              <a:rPr lang="ko-KR" altLang="en-US" sz="1300" dirty="0"/>
              <a:t>취약 자산을 이유와 함께 리스트업</a:t>
            </a:r>
            <a:endParaRPr lang="en-US" altLang="ko-KR" sz="1300" dirty="0"/>
          </a:p>
          <a:p>
            <a:pPr lvl="1"/>
            <a:r>
              <a:rPr lang="ko-KR" altLang="en-US" sz="1200" dirty="0"/>
              <a:t>조직 자산 </a:t>
            </a:r>
            <a:r>
              <a:rPr lang="en-US" altLang="ko-KR" sz="1200" dirty="0"/>
              <a:t>overview, CVE, Policy</a:t>
            </a:r>
          </a:p>
          <a:p>
            <a:pPr lvl="1"/>
            <a:endParaRPr lang="en-US" altLang="ko-KR" sz="14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200697B-146F-12A1-B3FF-F9F255EF3E5C}"/>
              </a:ext>
            </a:extLst>
          </p:cNvPr>
          <p:cNvGrpSpPr/>
          <p:nvPr/>
        </p:nvGrpSpPr>
        <p:grpSpPr>
          <a:xfrm>
            <a:off x="1422404" y="2023528"/>
            <a:ext cx="1534013" cy="1016001"/>
            <a:chOff x="1126066" y="2226732"/>
            <a:chExt cx="2099733" cy="120226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C0617BA-DD3E-AAE9-A88F-FDF12B2285D1}"/>
                </a:ext>
              </a:extLst>
            </p:cNvPr>
            <p:cNvSpPr/>
            <p:nvPr/>
          </p:nvSpPr>
          <p:spPr>
            <a:xfrm>
              <a:off x="1126066" y="2226732"/>
              <a:ext cx="2099733" cy="12022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5A68852-8A7D-59A5-DF4D-8766CE67F890}"/>
                </a:ext>
              </a:extLst>
            </p:cNvPr>
            <p:cNvSpPr txBox="1"/>
            <p:nvPr/>
          </p:nvSpPr>
          <p:spPr>
            <a:xfrm>
              <a:off x="1126066" y="2226733"/>
              <a:ext cx="2099733" cy="1056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700" b="1" dirty="0"/>
            </a:p>
            <a:p>
              <a:pPr algn="ctr"/>
              <a:r>
                <a:rPr lang="ko-KR" altLang="en-US" sz="1400" b="1" dirty="0"/>
                <a:t>조직 내부 지식</a:t>
              </a:r>
              <a:endParaRPr lang="en-US" altLang="ko-KR" sz="1400" b="1" dirty="0"/>
            </a:p>
            <a:p>
              <a:pPr algn="ctr"/>
              <a:endParaRPr lang="en-US" altLang="ko-KR" sz="700" dirty="0"/>
            </a:p>
            <a:p>
              <a:pPr algn="ctr"/>
              <a:r>
                <a:rPr lang="en-US" altLang="ko-KR" sz="1200" dirty="0" err="1"/>
                <a:t>assets.yaml</a:t>
              </a:r>
              <a:endParaRPr lang="en-US" altLang="ko-KR" sz="1200" dirty="0"/>
            </a:p>
            <a:p>
              <a:pPr algn="ctr"/>
              <a:r>
                <a:rPr lang="en-US" altLang="ko-KR" sz="1200" dirty="0" err="1"/>
                <a:t>policy.yaml</a:t>
              </a:r>
              <a:endParaRPr lang="en-US" altLang="ko-KR" sz="1200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E654135-5AA0-3976-807E-536C8A9EEF3F}"/>
              </a:ext>
            </a:extLst>
          </p:cNvPr>
          <p:cNvGrpSpPr/>
          <p:nvPr/>
        </p:nvGrpSpPr>
        <p:grpSpPr>
          <a:xfrm>
            <a:off x="4707467" y="2023529"/>
            <a:ext cx="1676403" cy="1016001"/>
            <a:chOff x="1126066" y="2226732"/>
            <a:chExt cx="2099733" cy="120226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273E9AF-FD56-F828-B059-1C6D0FE92779}"/>
                </a:ext>
              </a:extLst>
            </p:cNvPr>
            <p:cNvSpPr/>
            <p:nvPr/>
          </p:nvSpPr>
          <p:spPr>
            <a:xfrm>
              <a:off x="1126066" y="2226732"/>
              <a:ext cx="2099733" cy="12022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55BCE78-5BED-3E31-1320-C4158B40A1BE}"/>
                </a:ext>
              </a:extLst>
            </p:cNvPr>
            <p:cNvSpPr txBox="1"/>
            <p:nvPr/>
          </p:nvSpPr>
          <p:spPr>
            <a:xfrm>
              <a:off x="1126066" y="2226733"/>
              <a:ext cx="2099733" cy="928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400" b="1" dirty="0"/>
            </a:p>
            <a:p>
              <a:pPr algn="ctr"/>
              <a:r>
                <a:rPr lang="en-US" altLang="ko-KR" sz="1400" b="1" dirty="0"/>
                <a:t>Tier 1 </a:t>
              </a:r>
              <a:r>
                <a:rPr lang="ko-KR" altLang="en-US" sz="1400" b="1" dirty="0"/>
                <a:t>판정 </a:t>
              </a:r>
              <a:r>
                <a:rPr lang="en-US" altLang="ko-KR" sz="1400" b="1" dirty="0"/>
                <a:t>DB</a:t>
              </a:r>
            </a:p>
            <a:p>
              <a:pPr algn="ctr"/>
              <a:endParaRPr lang="en-US" altLang="ko-KR" sz="300" b="1" dirty="0"/>
            </a:p>
            <a:p>
              <a:pPr algn="ctr"/>
              <a:r>
                <a:rPr lang="en-US" altLang="ko-KR" sz="1400" b="1" dirty="0"/>
                <a:t>Watchlist hit/miss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A5A43F6-9CF8-C246-5E0C-FFA2FE6B8554}"/>
              </a:ext>
            </a:extLst>
          </p:cNvPr>
          <p:cNvGrpSpPr/>
          <p:nvPr/>
        </p:nvGrpSpPr>
        <p:grpSpPr>
          <a:xfrm>
            <a:off x="1422405" y="3395130"/>
            <a:ext cx="4961464" cy="1016001"/>
            <a:chOff x="1126066" y="2226732"/>
            <a:chExt cx="2099733" cy="1202267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E1F61CE-AA6C-3447-5350-2180BE76928E}"/>
                </a:ext>
              </a:extLst>
            </p:cNvPr>
            <p:cNvSpPr/>
            <p:nvPr/>
          </p:nvSpPr>
          <p:spPr>
            <a:xfrm>
              <a:off x="1126066" y="2226732"/>
              <a:ext cx="2099733" cy="12022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A3CA5A6-A27C-C706-C687-73C8BF7327AB}"/>
                </a:ext>
              </a:extLst>
            </p:cNvPr>
            <p:cNvSpPr txBox="1"/>
            <p:nvPr/>
          </p:nvSpPr>
          <p:spPr>
            <a:xfrm>
              <a:off x="1126066" y="2226733"/>
              <a:ext cx="2099733" cy="928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400" b="1" dirty="0"/>
            </a:p>
            <a:p>
              <a:pPr algn="ctr"/>
              <a:r>
                <a:rPr lang="en-US" altLang="ko-KR" sz="1400" b="1" dirty="0"/>
                <a:t>Tier 2 LLM</a:t>
              </a:r>
            </a:p>
            <a:p>
              <a:pPr algn="ctr"/>
              <a:endParaRPr lang="en-US" altLang="ko-KR" sz="300" b="1" dirty="0"/>
            </a:p>
            <a:p>
              <a:pPr algn="ctr"/>
              <a:r>
                <a:rPr lang="ko-KR" altLang="en-US" sz="1400" b="1" dirty="0"/>
                <a:t>방어 전략 </a:t>
              </a:r>
              <a:r>
                <a:rPr lang="ko-KR" altLang="en-US" sz="1400" b="1" dirty="0" err="1"/>
                <a:t>수립자</a:t>
              </a:r>
              <a:endParaRPr lang="en-US" altLang="ko-KR" sz="1400" b="1" dirty="0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0DAE2D0-66B0-5415-1322-32F321DF9916}"/>
              </a:ext>
            </a:extLst>
          </p:cNvPr>
          <p:cNvGrpSpPr/>
          <p:nvPr/>
        </p:nvGrpSpPr>
        <p:grpSpPr>
          <a:xfrm>
            <a:off x="1422403" y="4809066"/>
            <a:ext cx="1422397" cy="1016001"/>
            <a:chOff x="1126066" y="2226732"/>
            <a:chExt cx="2099733" cy="1202267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B368146-39E5-6515-C43D-22A6167A04F8}"/>
                </a:ext>
              </a:extLst>
            </p:cNvPr>
            <p:cNvSpPr/>
            <p:nvPr/>
          </p:nvSpPr>
          <p:spPr>
            <a:xfrm>
              <a:off x="1126066" y="2226732"/>
              <a:ext cx="2099733" cy="12022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7C818F8-4CBD-697E-7619-24C9BAE637D1}"/>
                </a:ext>
              </a:extLst>
            </p:cNvPr>
            <p:cNvSpPr txBox="1"/>
            <p:nvPr/>
          </p:nvSpPr>
          <p:spPr>
            <a:xfrm>
              <a:off x="1126066" y="2226733"/>
              <a:ext cx="2099733" cy="928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900" b="1" dirty="0"/>
            </a:p>
            <a:p>
              <a:pPr algn="ctr"/>
              <a:endParaRPr lang="en-US" altLang="ko-KR" sz="1000" b="1" dirty="0"/>
            </a:p>
            <a:p>
              <a:pPr algn="ctr"/>
              <a:r>
                <a:rPr lang="ko-KR" altLang="en-US" sz="1400" b="1" dirty="0"/>
                <a:t>주간 </a:t>
              </a:r>
              <a:r>
                <a:rPr lang="en-US" altLang="ko-KR" sz="1400" b="1" dirty="0"/>
                <a:t>Summary</a:t>
              </a:r>
            </a:p>
            <a:p>
              <a:pPr algn="ctr"/>
              <a:r>
                <a:rPr lang="ko-KR" altLang="en-US" sz="1200" dirty="0"/>
                <a:t>비전문가 지원</a:t>
              </a:r>
              <a:endParaRPr lang="en-US" altLang="ko-KR" sz="12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83F3F16-3EC5-C8EE-2DA1-5A7168065068}"/>
              </a:ext>
            </a:extLst>
          </p:cNvPr>
          <p:cNvGrpSpPr/>
          <p:nvPr/>
        </p:nvGrpSpPr>
        <p:grpSpPr>
          <a:xfrm>
            <a:off x="3158074" y="4809066"/>
            <a:ext cx="1422397" cy="1016001"/>
            <a:chOff x="1126066" y="2226732"/>
            <a:chExt cx="2099733" cy="1202267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6B3F013-020E-D3B2-99B0-6F5FFFDB0DAE}"/>
                </a:ext>
              </a:extLst>
            </p:cNvPr>
            <p:cNvSpPr/>
            <p:nvPr/>
          </p:nvSpPr>
          <p:spPr>
            <a:xfrm>
              <a:off x="1126066" y="2226732"/>
              <a:ext cx="2099733" cy="1202267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2ED373-4169-0428-4675-3E584629B965}"/>
                </a:ext>
              </a:extLst>
            </p:cNvPr>
            <p:cNvSpPr txBox="1"/>
            <p:nvPr/>
          </p:nvSpPr>
          <p:spPr>
            <a:xfrm>
              <a:off x="1126066" y="2226733"/>
              <a:ext cx="2099733" cy="1056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000" b="1" dirty="0"/>
            </a:p>
            <a:p>
              <a:pPr algn="ctr"/>
              <a:r>
                <a:rPr lang="en-US" altLang="ko-KR" sz="1400" b="1" dirty="0"/>
                <a:t>Watchlist</a:t>
              </a:r>
            </a:p>
            <a:p>
              <a:pPr algn="ctr"/>
              <a:r>
                <a:rPr lang="en-US" altLang="ko-KR" sz="1400" b="1" dirty="0"/>
                <a:t>&amp;</a:t>
              </a:r>
            </a:p>
            <a:p>
              <a:pPr algn="ctr"/>
              <a:r>
                <a:rPr lang="en-US" altLang="ko-KR" sz="1400" b="1" dirty="0"/>
                <a:t>Contexts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1113E34-7ED7-E224-5525-B40F53C7CCA8}"/>
              </a:ext>
            </a:extLst>
          </p:cNvPr>
          <p:cNvGrpSpPr/>
          <p:nvPr/>
        </p:nvGrpSpPr>
        <p:grpSpPr>
          <a:xfrm>
            <a:off x="4969941" y="4800598"/>
            <a:ext cx="1422397" cy="1016001"/>
            <a:chOff x="1126066" y="2226732"/>
            <a:chExt cx="2099733" cy="1202267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F4DE8360-3B68-0EED-AEC9-32D53A3EBB26}"/>
                </a:ext>
              </a:extLst>
            </p:cNvPr>
            <p:cNvSpPr/>
            <p:nvPr/>
          </p:nvSpPr>
          <p:spPr>
            <a:xfrm>
              <a:off x="1126066" y="2226732"/>
              <a:ext cx="2099733" cy="120226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118D73D-90F6-1E8D-AFC7-073D3D2E18FC}"/>
                </a:ext>
              </a:extLst>
            </p:cNvPr>
            <p:cNvSpPr txBox="1"/>
            <p:nvPr/>
          </p:nvSpPr>
          <p:spPr>
            <a:xfrm>
              <a:off x="1126066" y="2226733"/>
              <a:ext cx="2099733" cy="928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900" b="1" dirty="0"/>
            </a:p>
            <a:p>
              <a:pPr algn="ctr"/>
              <a:endParaRPr lang="en-US" altLang="ko-KR" sz="800" b="1" dirty="0"/>
            </a:p>
            <a:p>
              <a:pPr algn="ctr"/>
              <a:r>
                <a:rPr lang="en-US" altLang="ko-KR" sz="1400" b="1" dirty="0"/>
                <a:t>Attack Surface</a:t>
              </a:r>
            </a:p>
            <a:p>
              <a:pPr algn="ctr"/>
              <a:r>
                <a:rPr lang="en-US" altLang="ko-KR" sz="1400" b="1" dirty="0"/>
                <a:t>Memory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9FDF7001-E74F-7F12-C9A7-881F1B35E0CE}"/>
              </a:ext>
            </a:extLst>
          </p:cNvPr>
          <p:cNvGrpSpPr/>
          <p:nvPr/>
        </p:nvGrpSpPr>
        <p:grpSpPr>
          <a:xfrm>
            <a:off x="3076159" y="2023527"/>
            <a:ext cx="1512781" cy="1016001"/>
            <a:chOff x="1126066" y="2226732"/>
            <a:chExt cx="2099733" cy="120226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3B811A02-6A02-4545-A98F-63DB9AE267A6}"/>
                </a:ext>
              </a:extLst>
            </p:cNvPr>
            <p:cNvSpPr/>
            <p:nvPr/>
          </p:nvSpPr>
          <p:spPr>
            <a:xfrm>
              <a:off x="1126066" y="2226732"/>
              <a:ext cx="2099733" cy="12022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3656AB2-F261-6159-576D-7C0C55ADCFBC}"/>
                </a:ext>
              </a:extLst>
            </p:cNvPr>
            <p:cNvSpPr txBox="1"/>
            <p:nvPr/>
          </p:nvSpPr>
          <p:spPr>
            <a:xfrm>
              <a:off x="1126066" y="2226733"/>
              <a:ext cx="2099733" cy="1056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700" b="1" dirty="0"/>
            </a:p>
            <a:p>
              <a:pPr algn="ctr"/>
              <a:r>
                <a:rPr lang="ko-KR" altLang="en-US" sz="1400" b="1" dirty="0"/>
                <a:t>외부 지식</a:t>
              </a:r>
              <a:endParaRPr lang="en-US" altLang="ko-KR" sz="1400" b="1" dirty="0"/>
            </a:p>
            <a:p>
              <a:pPr algn="ctr"/>
              <a:endParaRPr lang="en-US" altLang="ko-KR" sz="700" dirty="0"/>
            </a:p>
            <a:p>
              <a:pPr algn="ctr"/>
              <a:r>
                <a:rPr lang="en-US" altLang="ko-KR" sz="1200" dirty="0" err="1"/>
                <a:t>cve_feed.yaml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 </a:t>
              </a:r>
              <a:r>
                <a:rPr lang="en-US" altLang="ko-KR" sz="1200" dirty="0" err="1"/>
                <a:t>threat_feed.yaml</a:t>
              </a:r>
              <a:endParaRPr lang="ko-KR" altLang="en-US" sz="1200" dirty="0"/>
            </a:p>
          </p:txBody>
        </p:sp>
      </p:grp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03898B6-5EF7-0FAD-196E-208382F38DEE}"/>
              </a:ext>
            </a:extLst>
          </p:cNvPr>
          <p:cNvCxnSpPr>
            <a:cxnSpLocks/>
          </p:cNvCxnSpPr>
          <p:nvPr/>
        </p:nvCxnSpPr>
        <p:spPr>
          <a:xfrm>
            <a:off x="2148986" y="3055620"/>
            <a:ext cx="0" cy="339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B259EA78-52CA-CA2B-A0CB-0275D1EAF5AA}"/>
              </a:ext>
            </a:extLst>
          </p:cNvPr>
          <p:cNvCxnSpPr>
            <a:cxnSpLocks/>
          </p:cNvCxnSpPr>
          <p:nvPr/>
        </p:nvCxnSpPr>
        <p:spPr>
          <a:xfrm>
            <a:off x="3867661" y="3055620"/>
            <a:ext cx="0" cy="339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D8628EC-AF64-80CF-5568-6137509A0E0F}"/>
              </a:ext>
            </a:extLst>
          </p:cNvPr>
          <p:cNvCxnSpPr>
            <a:cxnSpLocks/>
          </p:cNvCxnSpPr>
          <p:nvPr/>
        </p:nvCxnSpPr>
        <p:spPr>
          <a:xfrm>
            <a:off x="5573162" y="3055620"/>
            <a:ext cx="0" cy="339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C41D6CF-D51D-44F3-ABD5-7126C31F6641}"/>
              </a:ext>
            </a:extLst>
          </p:cNvPr>
          <p:cNvCxnSpPr>
            <a:cxnSpLocks/>
          </p:cNvCxnSpPr>
          <p:nvPr/>
        </p:nvCxnSpPr>
        <p:spPr>
          <a:xfrm>
            <a:off x="5623823" y="4420432"/>
            <a:ext cx="0" cy="380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471086C8-E8F0-8F95-BF33-C360658A8DA6}"/>
              </a:ext>
            </a:extLst>
          </p:cNvPr>
          <p:cNvCxnSpPr>
            <a:cxnSpLocks/>
          </p:cNvCxnSpPr>
          <p:nvPr/>
        </p:nvCxnSpPr>
        <p:spPr>
          <a:xfrm flipV="1">
            <a:off x="5735092" y="4398346"/>
            <a:ext cx="0" cy="399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18D0B80E-D474-1030-F547-DD3FA3FC873F}"/>
              </a:ext>
            </a:extLst>
          </p:cNvPr>
          <p:cNvCxnSpPr>
            <a:cxnSpLocks/>
          </p:cNvCxnSpPr>
          <p:nvPr/>
        </p:nvCxnSpPr>
        <p:spPr>
          <a:xfrm>
            <a:off x="3868826" y="4420432"/>
            <a:ext cx="0" cy="380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C1232FCB-2153-4981-1109-B70CE1A36FC6}"/>
              </a:ext>
            </a:extLst>
          </p:cNvPr>
          <p:cNvCxnSpPr>
            <a:cxnSpLocks/>
          </p:cNvCxnSpPr>
          <p:nvPr/>
        </p:nvCxnSpPr>
        <p:spPr>
          <a:xfrm>
            <a:off x="2139497" y="4420432"/>
            <a:ext cx="0" cy="380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232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97"/>
    </mc:Choice>
    <mc:Fallback xmlns="">
      <p:transition spd="slow" advTm="1319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E6950-C562-B403-3741-A2BE805A8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6BDE5C91-6E77-72C1-67D7-72E3E0BC0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>
            <a:normAutofit/>
          </a:bodyPr>
          <a:lstStyle/>
          <a:p>
            <a:r>
              <a:rPr lang="en-US" altLang="ko-KR" dirty="0"/>
              <a:t>’26h1 </a:t>
            </a:r>
            <a:r>
              <a:rPr lang="en-US" altLang="ko-KR" dirty="0" err="1"/>
              <a:t>AISecapp</a:t>
            </a:r>
            <a:r>
              <a:rPr lang="en-US" altLang="ko-KR" dirty="0"/>
              <a:t> proposal presentation</a:t>
            </a:r>
            <a:endParaRPr lang="ko-KR" altLang="en-US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452BF512-578F-4269-6C9F-88BF0C510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463075"/>
            <a:ext cx="710647" cy="2211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A8F1E205-3121-0D00-E200-27019B7426D7}"/>
              </a:ext>
            </a:extLst>
          </p:cNvPr>
          <p:cNvSpPr txBox="1">
            <a:spLocks/>
          </p:cNvSpPr>
          <p:nvPr/>
        </p:nvSpPr>
        <p:spPr>
          <a:xfrm>
            <a:off x="633378" y="148741"/>
            <a:ext cx="6306683" cy="1216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/>
              <a:t>프로젝트 아키텍처 계획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423254-CB5C-1C97-E0E3-D0AB2CC6EDCF}"/>
              </a:ext>
            </a:extLst>
          </p:cNvPr>
          <p:cNvSpPr/>
          <p:nvPr/>
        </p:nvSpPr>
        <p:spPr>
          <a:xfrm>
            <a:off x="633378" y="1629507"/>
            <a:ext cx="6543599" cy="48335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4924CEDD-95B4-645F-657E-540AA8D61915}"/>
              </a:ext>
            </a:extLst>
          </p:cNvPr>
          <p:cNvSpPr txBox="1">
            <a:spLocks/>
          </p:cNvSpPr>
          <p:nvPr/>
        </p:nvSpPr>
        <p:spPr>
          <a:xfrm>
            <a:off x="7525753" y="1695471"/>
            <a:ext cx="3872349" cy="46659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&lt; Architecture - Real Time Loop &gt;</a:t>
            </a:r>
            <a:endParaRPr lang="en-US" altLang="ko-KR" dirty="0"/>
          </a:p>
          <a:p>
            <a:r>
              <a:rPr lang="ko-KR" altLang="en-US" sz="1600" dirty="0"/>
              <a:t>플로우 단위 실시간 처리</a:t>
            </a:r>
            <a:endParaRPr lang="en-US" altLang="ko-KR" sz="1600" dirty="0"/>
          </a:p>
          <a:p>
            <a:r>
              <a:rPr lang="ko-KR" altLang="en-US" sz="1600" dirty="0"/>
              <a:t>비용 효율적 </a:t>
            </a:r>
            <a:r>
              <a:rPr lang="en-US" altLang="ko-KR" sz="1600" dirty="0"/>
              <a:t>ML</a:t>
            </a:r>
            <a:r>
              <a:rPr lang="ko-KR" altLang="en-US" sz="1600" dirty="0"/>
              <a:t>이 대부분</a:t>
            </a:r>
            <a:r>
              <a:rPr lang="en-US" altLang="ko-KR" sz="1600" dirty="0"/>
              <a:t> </a:t>
            </a:r>
            <a:r>
              <a:rPr lang="ko-KR" altLang="en-US" sz="1600" dirty="0"/>
              <a:t>처리</a:t>
            </a:r>
            <a:r>
              <a:rPr lang="en-US" altLang="ko-KR" sz="16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임계치 실험 결과 </a:t>
            </a:r>
            <a:r>
              <a:rPr lang="en-US" altLang="ko-KR" sz="1400" dirty="0"/>
              <a:t>dismiss 87% / alert 12%)</a:t>
            </a:r>
          </a:p>
          <a:p>
            <a:r>
              <a:rPr lang="en-US" altLang="ko-KR" sz="1600" dirty="0"/>
              <a:t>Tier1 LLM</a:t>
            </a:r>
            <a:r>
              <a:rPr lang="ko-KR" altLang="en-US" sz="1600" dirty="0"/>
              <a:t>으로 </a:t>
            </a:r>
            <a:r>
              <a:rPr lang="ko-KR" altLang="en-US" sz="1600" dirty="0" err="1"/>
              <a:t>라우팅된</a:t>
            </a:r>
            <a:r>
              <a:rPr lang="ko-KR" altLang="en-US" sz="1600" dirty="0"/>
              <a:t> 플로우는 </a:t>
            </a:r>
            <a:r>
              <a:rPr lang="en-US" altLang="ko-KR" sz="1600" dirty="0"/>
              <a:t>flow contexts</a:t>
            </a:r>
            <a:r>
              <a:rPr lang="ko-KR" altLang="en-US" sz="1600" dirty="0"/>
              <a:t>와 </a:t>
            </a:r>
            <a:r>
              <a:rPr lang="en-US" altLang="ko-KR" sz="1600" dirty="0"/>
              <a:t>Tier2 LLM</a:t>
            </a:r>
            <a:r>
              <a:rPr lang="ko-KR" altLang="en-US" sz="1600" dirty="0"/>
              <a:t>이 생성한 </a:t>
            </a:r>
            <a:r>
              <a:rPr lang="en-US" altLang="ko-KR" sz="1600" dirty="0"/>
              <a:t>Watchlist &amp; Brief Contexts</a:t>
            </a:r>
            <a:r>
              <a:rPr lang="ko-KR" altLang="en-US" sz="1600" dirty="0"/>
              <a:t>를 확인하여 실시간 판정</a:t>
            </a:r>
            <a:endParaRPr lang="en-US" altLang="ko-KR" sz="1600" dirty="0"/>
          </a:p>
          <a:p>
            <a:r>
              <a:rPr lang="ko-KR" altLang="en-US" sz="1600" dirty="0"/>
              <a:t>판정은 </a:t>
            </a:r>
            <a:r>
              <a:rPr lang="en-US" altLang="ko-KR" sz="1600" dirty="0"/>
              <a:t>DB</a:t>
            </a:r>
            <a:r>
              <a:rPr lang="ko-KR" altLang="en-US" sz="1600" dirty="0"/>
              <a:t>에 저장되어 </a:t>
            </a:r>
            <a:r>
              <a:rPr lang="en-US" altLang="ko-KR" sz="1600" dirty="0"/>
              <a:t>Slow loop</a:t>
            </a:r>
            <a:r>
              <a:rPr lang="ko-KR" altLang="en-US" sz="1600" dirty="0"/>
              <a:t>에 재활용</a:t>
            </a:r>
            <a:endParaRPr lang="en-US" altLang="ko-KR" sz="1600" dirty="0"/>
          </a:p>
          <a:p>
            <a:r>
              <a:rPr lang="en-US" altLang="ko-KR" dirty="0"/>
              <a:t>ML Dataset: NF-CIC-IDS-2018-v3</a:t>
            </a:r>
          </a:p>
          <a:p>
            <a:pPr lvl="1"/>
            <a:r>
              <a:rPr lang="ko-KR" altLang="en-US" sz="1300" dirty="0"/>
              <a:t>실제 기업 토폴로지 반영</a:t>
            </a:r>
            <a:endParaRPr lang="en-US" altLang="ko-KR" sz="1300" dirty="0"/>
          </a:p>
          <a:p>
            <a:pPr lvl="1"/>
            <a:r>
              <a:rPr lang="en-US" altLang="ko-KR" sz="1300" dirty="0"/>
              <a:t>UNSW-NB15: </a:t>
            </a:r>
            <a:r>
              <a:rPr lang="ko-KR" altLang="en-US" sz="1300" dirty="0"/>
              <a:t>합성 데이터셋으로 분류 시 </a:t>
            </a:r>
            <a:r>
              <a:rPr lang="en-US" altLang="ko-KR" sz="1300" dirty="0"/>
              <a:t>port, </a:t>
            </a:r>
            <a:r>
              <a:rPr lang="en-US" altLang="ko-KR" sz="1300" dirty="0" err="1"/>
              <a:t>ttl</a:t>
            </a:r>
            <a:r>
              <a:rPr lang="en-US" altLang="ko-KR" sz="1300" dirty="0"/>
              <a:t> </a:t>
            </a:r>
            <a:r>
              <a:rPr lang="ko-KR" altLang="en-US" sz="1300" dirty="0"/>
              <a:t>등 공격자 지문을 학습하여 부적합</a:t>
            </a:r>
            <a:endParaRPr lang="en-US" altLang="ko-KR" sz="1300" dirty="0"/>
          </a:p>
          <a:p>
            <a:pPr lvl="1"/>
            <a:endParaRPr lang="en-US" altLang="ko-KR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C32E94C-3793-E796-69D3-3839FFA3D8AB}"/>
              </a:ext>
            </a:extLst>
          </p:cNvPr>
          <p:cNvGrpSpPr/>
          <p:nvPr/>
        </p:nvGrpSpPr>
        <p:grpSpPr>
          <a:xfrm>
            <a:off x="1193803" y="2091264"/>
            <a:ext cx="2099733" cy="1016001"/>
            <a:chOff x="1126066" y="2226732"/>
            <a:chExt cx="2099733" cy="120226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BB21419-453B-8D02-A64D-9B1D9DF3CE0F}"/>
                </a:ext>
              </a:extLst>
            </p:cNvPr>
            <p:cNvSpPr/>
            <p:nvPr/>
          </p:nvSpPr>
          <p:spPr>
            <a:xfrm>
              <a:off x="1126066" y="2226732"/>
              <a:ext cx="2099733" cy="12022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A0A4DC-6728-54D0-E951-8DB9D6CEE0CD}"/>
                </a:ext>
              </a:extLst>
            </p:cNvPr>
            <p:cNvSpPr txBox="1"/>
            <p:nvPr/>
          </p:nvSpPr>
          <p:spPr>
            <a:xfrm>
              <a:off x="1126066" y="2226733"/>
              <a:ext cx="2099733" cy="1147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Flow</a:t>
              </a:r>
              <a:r>
                <a:rPr lang="ko-KR" altLang="en-US" sz="1400" b="1" dirty="0"/>
                <a:t> </a:t>
              </a:r>
              <a:r>
                <a:rPr lang="en-US" altLang="ko-KR" sz="1400" b="1" dirty="0"/>
                <a:t>Log</a:t>
              </a:r>
            </a:p>
            <a:p>
              <a:pPr algn="ctr"/>
              <a:endParaRPr lang="en-US" altLang="ko-KR" sz="700" b="1" dirty="0"/>
            </a:p>
            <a:p>
              <a:pPr algn="ctr"/>
              <a:r>
                <a:rPr lang="en-US" altLang="ko-KR" sz="1200" dirty="0"/>
                <a:t>UTM</a:t>
              </a:r>
            </a:p>
            <a:p>
              <a:pPr algn="ctr"/>
              <a:r>
                <a:rPr lang="en-US" altLang="ko-KR" sz="1200" dirty="0"/>
                <a:t>FW</a:t>
              </a:r>
            </a:p>
            <a:p>
              <a:pPr algn="ctr"/>
              <a:r>
                <a:rPr lang="en-US" altLang="ko-KR" sz="1200" dirty="0" err="1"/>
                <a:t>Netflow</a:t>
              </a:r>
              <a:endParaRPr lang="ko-KR" altLang="en-US" sz="1200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835E3F5-9BDA-E79E-EF5C-BB5A8590C8D3}"/>
              </a:ext>
            </a:extLst>
          </p:cNvPr>
          <p:cNvGrpSpPr/>
          <p:nvPr/>
        </p:nvGrpSpPr>
        <p:grpSpPr>
          <a:xfrm>
            <a:off x="3759199" y="2917989"/>
            <a:ext cx="1557866" cy="1016001"/>
            <a:chOff x="1126066" y="2226732"/>
            <a:chExt cx="2099733" cy="120226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0BF69EC-6B23-287B-928F-C175340FFC9C}"/>
                </a:ext>
              </a:extLst>
            </p:cNvPr>
            <p:cNvSpPr/>
            <p:nvPr/>
          </p:nvSpPr>
          <p:spPr>
            <a:xfrm>
              <a:off x="1126066" y="2226732"/>
              <a:ext cx="2099733" cy="12022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6C5E68-8DFB-A930-0E9D-26220719CBCC}"/>
                </a:ext>
              </a:extLst>
            </p:cNvPr>
            <p:cNvSpPr txBox="1"/>
            <p:nvPr/>
          </p:nvSpPr>
          <p:spPr>
            <a:xfrm>
              <a:off x="1126066" y="2226733"/>
              <a:ext cx="2099733" cy="1019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Flow Contexts</a:t>
              </a:r>
            </a:p>
            <a:p>
              <a:pPr algn="ctr"/>
              <a:endParaRPr lang="en-US" altLang="ko-KR" sz="600" dirty="0"/>
            </a:p>
            <a:p>
              <a:pPr algn="ctr"/>
              <a:r>
                <a:rPr lang="en-US" altLang="ko-KR" sz="1000" dirty="0"/>
                <a:t>Flow Feature</a:t>
              </a:r>
            </a:p>
            <a:p>
              <a:pPr algn="ctr"/>
              <a:r>
                <a:rPr lang="en-US" altLang="ko-KR" sz="1000" dirty="0"/>
                <a:t>SHAP Top5</a:t>
              </a:r>
            </a:p>
            <a:p>
              <a:pPr algn="ctr"/>
              <a:r>
                <a:rPr lang="ko-KR" altLang="en-US" sz="1000" dirty="0"/>
                <a:t>출발지 최근 활동</a:t>
              </a:r>
              <a:endParaRPr lang="en-US" altLang="ko-KR" sz="1000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EC8493C-0C54-16C5-877A-420F719BB45C}"/>
              </a:ext>
            </a:extLst>
          </p:cNvPr>
          <p:cNvGrpSpPr/>
          <p:nvPr/>
        </p:nvGrpSpPr>
        <p:grpSpPr>
          <a:xfrm>
            <a:off x="1193804" y="3496736"/>
            <a:ext cx="2099732" cy="2480733"/>
            <a:chOff x="1126066" y="2226732"/>
            <a:chExt cx="2099733" cy="1202267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43530C6-D6B1-84D4-87BD-567C675BF01C}"/>
                </a:ext>
              </a:extLst>
            </p:cNvPr>
            <p:cNvSpPr/>
            <p:nvPr/>
          </p:nvSpPr>
          <p:spPr>
            <a:xfrm>
              <a:off x="1126066" y="2226732"/>
              <a:ext cx="2099733" cy="12022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7A2134-B304-2FBD-9243-7620114168AE}"/>
                </a:ext>
              </a:extLst>
            </p:cNvPr>
            <p:cNvSpPr txBox="1"/>
            <p:nvPr/>
          </p:nvSpPr>
          <p:spPr>
            <a:xfrm>
              <a:off x="1126066" y="2226733"/>
              <a:ext cx="2099733" cy="1014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400" b="1" dirty="0"/>
            </a:p>
            <a:p>
              <a:pPr algn="ctr"/>
              <a:r>
                <a:rPr lang="en-US" altLang="ko-KR" sz="1400" b="1" dirty="0" err="1"/>
                <a:t>XGBoost</a:t>
              </a:r>
              <a:r>
                <a:rPr lang="en-US" altLang="ko-KR" sz="1400" b="1" dirty="0"/>
                <a:t> </a:t>
              </a:r>
              <a:r>
                <a:rPr lang="ko-KR" altLang="en-US" sz="1400" b="1" dirty="0"/>
                <a:t>이진 분류</a:t>
              </a:r>
              <a:endParaRPr lang="en-US" altLang="ko-KR" sz="1400" b="1" dirty="0"/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/>
                <a:t>비용 효율성</a:t>
              </a:r>
              <a:r>
                <a:rPr lang="en-US" altLang="ko-KR" sz="1200" dirty="0"/>
                <a:t>)</a:t>
              </a:r>
            </a:p>
            <a:p>
              <a:pPr algn="ctr"/>
              <a:endParaRPr lang="en-US" altLang="ko-KR" sz="1400" dirty="0"/>
            </a:p>
            <a:p>
              <a:pPr algn="ctr"/>
              <a:endParaRPr lang="en-US" altLang="ko-KR" sz="1400" dirty="0"/>
            </a:p>
            <a:p>
              <a:pPr algn="ctr"/>
              <a:r>
                <a:rPr lang="en-US" altLang="ko-KR" sz="1200" dirty="0"/>
                <a:t>&lt; </a:t>
              </a:r>
              <a:r>
                <a:rPr lang="ko-KR" altLang="en-US" sz="1200" dirty="0"/>
                <a:t>라우팅 예시 </a:t>
              </a:r>
              <a:r>
                <a:rPr lang="en-US" altLang="ko-KR" sz="1200" dirty="0"/>
                <a:t>&gt;</a:t>
              </a:r>
            </a:p>
            <a:p>
              <a:pPr algn="ctr"/>
              <a:endParaRPr lang="en-US" altLang="ko-KR" sz="1200" dirty="0"/>
            </a:p>
            <a:p>
              <a:pPr algn="ctr"/>
              <a:r>
                <a:rPr lang="en-US" altLang="ko-KR" sz="1200" dirty="0"/>
                <a:t>Prob &lt; 0.3 </a:t>
              </a:r>
              <a:r>
                <a:rPr lang="ko-KR" altLang="en-US" sz="1200" dirty="0"/>
                <a:t>▶ </a:t>
              </a:r>
              <a:r>
                <a:rPr lang="en-US" altLang="ko-KR" sz="1200" dirty="0"/>
                <a:t>DISMISS</a:t>
              </a:r>
            </a:p>
            <a:p>
              <a:pPr algn="ctr"/>
              <a:r>
                <a:rPr lang="en-US" altLang="ko-KR" sz="1200" dirty="0"/>
                <a:t>Prob &gt; 0.95 </a:t>
              </a:r>
              <a:r>
                <a:rPr lang="ko-KR" altLang="en-US" sz="1200" dirty="0"/>
                <a:t>▶ </a:t>
              </a:r>
              <a:r>
                <a:rPr lang="en-US" altLang="ko-KR" sz="1200" dirty="0"/>
                <a:t>Alert</a:t>
              </a:r>
            </a:p>
            <a:p>
              <a:pPr algn="ctr"/>
              <a:r>
                <a:rPr lang="en-US" altLang="ko-KR" sz="1200" dirty="0"/>
                <a:t>0.3 &lt; Prob &lt; 0.95 </a:t>
              </a:r>
              <a:r>
                <a:rPr lang="ko-KR" altLang="en-US" sz="1200" dirty="0"/>
                <a:t>▶ </a:t>
              </a:r>
              <a:r>
                <a:rPr lang="en-US" altLang="ko-KR" sz="1200" dirty="0"/>
                <a:t>LLM </a:t>
              </a:r>
            </a:p>
          </p:txBody>
        </p:sp>
      </p:grp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8DB2539-6E16-2DAA-D6FA-C0B55055BCE4}"/>
              </a:ext>
            </a:extLst>
          </p:cNvPr>
          <p:cNvCxnSpPr>
            <a:cxnSpLocks/>
            <a:stCxn id="3" idx="2"/>
            <a:endCxn id="17" idx="0"/>
          </p:cNvCxnSpPr>
          <p:nvPr/>
        </p:nvCxnSpPr>
        <p:spPr>
          <a:xfrm>
            <a:off x="2243670" y="3107265"/>
            <a:ext cx="0" cy="389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94CB3D4-1D76-963E-EE25-89063E060058}"/>
              </a:ext>
            </a:extLst>
          </p:cNvPr>
          <p:cNvGrpSpPr/>
          <p:nvPr/>
        </p:nvGrpSpPr>
        <p:grpSpPr>
          <a:xfrm>
            <a:off x="3759199" y="4105157"/>
            <a:ext cx="2952261" cy="1139945"/>
            <a:chOff x="1126066" y="2226732"/>
            <a:chExt cx="2099733" cy="1202267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B129825-59AE-F6C9-BE22-21656514546F}"/>
                </a:ext>
              </a:extLst>
            </p:cNvPr>
            <p:cNvSpPr/>
            <p:nvPr/>
          </p:nvSpPr>
          <p:spPr>
            <a:xfrm>
              <a:off x="1126066" y="2226732"/>
              <a:ext cx="2099733" cy="12022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30D63B9-7C6D-5CC8-972F-45F44EFBF579}"/>
                </a:ext>
              </a:extLst>
            </p:cNvPr>
            <p:cNvSpPr txBox="1"/>
            <p:nvPr/>
          </p:nvSpPr>
          <p:spPr>
            <a:xfrm>
              <a:off x="1126066" y="2226733"/>
              <a:ext cx="2099733" cy="876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900" b="1" dirty="0"/>
            </a:p>
            <a:p>
              <a:pPr algn="ctr"/>
              <a:endParaRPr lang="en-US" altLang="ko-KR" sz="800" b="1" dirty="0"/>
            </a:p>
            <a:p>
              <a:pPr algn="ctr"/>
              <a:endParaRPr lang="en-US" altLang="ko-KR" sz="500" b="1" dirty="0"/>
            </a:p>
            <a:p>
              <a:pPr algn="ctr"/>
              <a:r>
                <a:rPr lang="en-US" altLang="ko-KR" sz="1400" b="1" dirty="0"/>
                <a:t>Tier1 LLM</a:t>
              </a:r>
            </a:p>
            <a:p>
              <a:pPr algn="ctr"/>
              <a:r>
                <a:rPr lang="ko-KR" altLang="en-US" sz="1200" dirty="0"/>
                <a:t>실시간 </a:t>
              </a:r>
              <a:r>
                <a:rPr lang="ko-KR" altLang="en-US" sz="1200" dirty="0" err="1"/>
                <a:t>판정자</a:t>
              </a:r>
              <a:endParaRPr lang="en-US" altLang="ko-KR" sz="1200" dirty="0"/>
            </a:p>
          </p:txBody>
        </p:sp>
      </p:grp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FCF88AF-E1AB-2634-65A0-246E0F509C21}"/>
              </a:ext>
            </a:extLst>
          </p:cNvPr>
          <p:cNvCxnSpPr>
            <a:cxnSpLocks/>
          </p:cNvCxnSpPr>
          <p:nvPr/>
        </p:nvCxnSpPr>
        <p:spPr>
          <a:xfrm flipV="1">
            <a:off x="3293536" y="3801887"/>
            <a:ext cx="46566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97EC74-44CA-196E-302C-9E2B6C28BE92}"/>
              </a:ext>
            </a:extLst>
          </p:cNvPr>
          <p:cNvSpPr/>
          <p:nvPr/>
        </p:nvSpPr>
        <p:spPr>
          <a:xfrm>
            <a:off x="1269999" y="4488168"/>
            <a:ext cx="1947333" cy="1101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C632D92-06B4-B52B-CE37-7F000D779A97}"/>
              </a:ext>
            </a:extLst>
          </p:cNvPr>
          <p:cNvGrpSpPr/>
          <p:nvPr/>
        </p:nvGrpSpPr>
        <p:grpSpPr>
          <a:xfrm>
            <a:off x="5407599" y="2917987"/>
            <a:ext cx="1303861" cy="1016001"/>
            <a:chOff x="1126066" y="2226732"/>
            <a:chExt cx="2099733" cy="1202267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B4CEC846-AB45-4FCB-AA3B-F35E8DF4D7DE}"/>
                </a:ext>
              </a:extLst>
            </p:cNvPr>
            <p:cNvSpPr/>
            <p:nvPr/>
          </p:nvSpPr>
          <p:spPr>
            <a:xfrm>
              <a:off x="1126066" y="2226732"/>
              <a:ext cx="2099733" cy="1202267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99D149-6272-9A9C-5982-D7D91F92A264}"/>
                </a:ext>
              </a:extLst>
            </p:cNvPr>
            <p:cNvSpPr txBox="1"/>
            <p:nvPr/>
          </p:nvSpPr>
          <p:spPr>
            <a:xfrm>
              <a:off x="1126066" y="2226733"/>
              <a:ext cx="2099733" cy="1037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900" b="1" dirty="0"/>
            </a:p>
            <a:p>
              <a:pPr algn="ctr"/>
              <a:r>
                <a:rPr lang="en-US" altLang="ko-KR" sz="1400" b="1" dirty="0"/>
                <a:t>Watchlist</a:t>
              </a:r>
            </a:p>
            <a:p>
              <a:pPr algn="ctr"/>
              <a:r>
                <a:rPr lang="en-US" altLang="ko-KR" sz="1400" b="1" dirty="0"/>
                <a:t>&amp;</a:t>
              </a:r>
            </a:p>
            <a:p>
              <a:pPr algn="ctr"/>
              <a:r>
                <a:rPr lang="en-US" altLang="ko-KR" sz="1400" b="1" dirty="0"/>
                <a:t>Contexts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6730E7B-9591-4E3A-4A0C-B4DDBF356DCB}"/>
              </a:ext>
            </a:extLst>
          </p:cNvPr>
          <p:cNvGrpSpPr/>
          <p:nvPr/>
        </p:nvGrpSpPr>
        <p:grpSpPr>
          <a:xfrm>
            <a:off x="3759200" y="5401734"/>
            <a:ext cx="2952261" cy="571503"/>
            <a:chOff x="1126066" y="2226732"/>
            <a:chExt cx="2099733" cy="1202267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11E2580-DAF3-8972-1B49-F4ECF4734055}"/>
                </a:ext>
              </a:extLst>
            </p:cNvPr>
            <p:cNvSpPr/>
            <p:nvPr/>
          </p:nvSpPr>
          <p:spPr>
            <a:xfrm>
              <a:off x="1126066" y="2226732"/>
              <a:ext cx="2099733" cy="12022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05C6B1F-C207-C11B-60EF-48781A6EBD12}"/>
                </a:ext>
              </a:extLst>
            </p:cNvPr>
            <p:cNvSpPr txBox="1"/>
            <p:nvPr/>
          </p:nvSpPr>
          <p:spPr>
            <a:xfrm>
              <a:off x="1126066" y="2226732"/>
              <a:ext cx="2099733" cy="971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200" b="1" dirty="0"/>
            </a:p>
            <a:p>
              <a:pPr algn="ctr"/>
              <a:r>
                <a:rPr lang="en-US" altLang="ko-KR" sz="1200" b="1" dirty="0"/>
                <a:t>Database</a:t>
              </a:r>
              <a:endParaRPr lang="en-US" altLang="ko-KR" sz="900" b="1" dirty="0"/>
            </a:p>
          </p:txBody>
        </p:sp>
      </p:grp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938127B-72D7-F154-01E5-A15CE1BC68B9}"/>
              </a:ext>
            </a:extLst>
          </p:cNvPr>
          <p:cNvCxnSpPr>
            <a:cxnSpLocks/>
            <a:stCxn id="41" idx="2"/>
          </p:cNvCxnSpPr>
          <p:nvPr/>
        </p:nvCxnSpPr>
        <p:spPr>
          <a:xfrm flipH="1">
            <a:off x="5232403" y="5245102"/>
            <a:ext cx="2927" cy="156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1C481A2B-CE63-39C5-3598-3DB5ABD6DF6C}"/>
              </a:ext>
            </a:extLst>
          </p:cNvPr>
          <p:cNvCxnSpPr>
            <a:cxnSpLocks/>
          </p:cNvCxnSpPr>
          <p:nvPr/>
        </p:nvCxnSpPr>
        <p:spPr>
          <a:xfrm>
            <a:off x="4538132" y="3933990"/>
            <a:ext cx="0" cy="171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CEA14803-A62C-AACB-37DF-B9C023C5A692}"/>
              </a:ext>
            </a:extLst>
          </p:cNvPr>
          <p:cNvCxnSpPr>
            <a:cxnSpLocks/>
          </p:cNvCxnSpPr>
          <p:nvPr/>
        </p:nvCxnSpPr>
        <p:spPr>
          <a:xfrm>
            <a:off x="6070600" y="3933991"/>
            <a:ext cx="0" cy="171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6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97"/>
    </mc:Choice>
    <mc:Fallback xmlns="">
      <p:transition spd="slow" advTm="1319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AC96-5208-3687-67E2-AD5BAD301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810B0A4B-7D19-0A76-22AE-13A96B8C3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>
            <a:normAutofit/>
          </a:bodyPr>
          <a:lstStyle/>
          <a:p>
            <a:r>
              <a:rPr lang="en-US" altLang="ko-KR" dirty="0"/>
              <a:t>’26h1 </a:t>
            </a:r>
            <a:r>
              <a:rPr lang="en-US" altLang="ko-KR" dirty="0" err="1"/>
              <a:t>AISecapp</a:t>
            </a:r>
            <a:r>
              <a:rPr lang="en-US" altLang="ko-KR" dirty="0"/>
              <a:t> proposal presentation</a:t>
            </a:r>
            <a:endParaRPr lang="ko-KR" altLang="en-US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63433638-B9F4-28A7-05AC-7BC858C8F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463075"/>
            <a:ext cx="710647" cy="2211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64D75E20-B056-AC87-4A84-5346ACA0408D}"/>
              </a:ext>
            </a:extLst>
          </p:cNvPr>
          <p:cNvSpPr txBox="1">
            <a:spLocks/>
          </p:cNvSpPr>
          <p:nvPr/>
        </p:nvSpPr>
        <p:spPr>
          <a:xfrm>
            <a:off x="633378" y="148741"/>
            <a:ext cx="6306683" cy="1216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/>
              <a:t>프로젝트 아키텍처 계획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59E3CC5-2487-91E4-6E21-463CCF166C2D}"/>
              </a:ext>
            </a:extLst>
          </p:cNvPr>
          <p:cNvSpPr/>
          <p:nvPr/>
        </p:nvSpPr>
        <p:spPr>
          <a:xfrm>
            <a:off x="633378" y="2037522"/>
            <a:ext cx="10595499" cy="4425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E3C2DFF8-2997-D4FF-E241-FC345746B887}"/>
              </a:ext>
            </a:extLst>
          </p:cNvPr>
          <p:cNvSpPr txBox="1">
            <a:spLocks/>
          </p:cNvSpPr>
          <p:nvPr/>
        </p:nvSpPr>
        <p:spPr>
          <a:xfrm>
            <a:off x="633378" y="1426461"/>
            <a:ext cx="10595498" cy="461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&lt; Tier 2 LLM Sample Inputs &gt;</a:t>
            </a:r>
            <a:endParaRPr lang="en-US" altLang="ko-KR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AEAC0E-96F7-0D0B-304D-2415AE2018C5}"/>
              </a:ext>
            </a:extLst>
          </p:cNvPr>
          <p:cNvSpPr txBox="1"/>
          <p:nvPr/>
        </p:nvSpPr>
        <p:spPr>
          <a:xfrm>
            <a:off x="914400" y="2305878"/>
            <a:ext cx="44825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# Sample </a:t>
            </a:r>
            <a:r>
              <a:rPr lang="en-US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assets.yaml</a:t>
            </a:r>
            <a:endParaRPr lang="en-US" altLang="ko-KR" sz="12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assets: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-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ip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"172.31.69.25"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role: "multi-service-server"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services: ["ssh", "ftp", "http"]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criticality: "high"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rationale: "Ubuntu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서버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SSH/FTP/Apache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Brute Force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공격 대상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ip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"172.31.69.28"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role: "web-application-server"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services: ["http", "https"]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criticality: "high"</a:t>
            </a:r>
          </a:p>
          <a:p>
            <a:b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trust_zones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-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cidr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"172.31.0.0/16"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zone: "internal"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-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cidr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"18.0.0.0/8"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zone: "external-unknown"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77EEDA-AD00-B230-54C7-AD29F9DDAFA1}"/>
              </a:ext>
            </a:extLst>
          </p:cNvPr>
          <p:cNvSpPr txBox="1"/>
          <p:nvPr/>
        </p:nvSpPr>
        <p:spPr>
          <a:xfrm>
            <a:off x="3830364" y="2305877"/>
            <a:ext cx="319660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# Sample </a:t>
            </a:r>
            <a:r>
              <a:rPr lang="en-US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threat_fead.yaml</a:t>
            </a:r>
            <a:endParaRPr lang="en-US" altLang="ko-KR" sz="12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known_malicious_ips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-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ip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"18.221.219.4"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tags: ["ftp-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bruteforce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"]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-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ip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"13.58.98.64"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tags: ["ssh-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bruteforce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"]</a:t>
            </a:r>
          </a:p>
          <a:p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custom_threat_context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- type: 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cve_advisory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cve_id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"CVE-2024-XXXXX"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content: "Apache 2.4.x RCE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취약점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affects_assets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["172.31.69.28"]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severity: "critical"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- type: 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industry_advisory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source: "KISA"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content: 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국내 중소기업 대상 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SSH brute force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캠페인 보고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A4D4C5-D220-C6F6-37F2-2E29CD7E6ECD}"/>
              </a:ext>
            </a:extLst>
          </p:cNvPr>
          <p:cNvSpPr txBox="1"/>
          <p:nvPr/>
        </p:nvSpPr>
        <p:spPr>
          <a:xfrm>
            <a:off x="6795054" y="2305877"/>
            <a:ext cx="44825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# Sample </a:t>
            </a:r>
            <a:r>
              <a:rPr lang="en-US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policy.yaml</a:t>
            </a:r>
            <a:endParaRPr lang="en-US" altLang="ko-KR" sz="12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business_hours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weekday: [9, 18]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timezone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"Asia/Seoul"</a:t>
            </a:r>
          </a:p>
          <a:p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elevated_risk_rules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- condition: "external → internal-service"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severity_boost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"+1"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- condition: "non-business-hours AND sensitive-asset"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severity_boost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"+1"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- condition: 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src_ip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in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known_malicious_ips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severity_boost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"+2"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- condition: "watchlist_priority_1 match"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auto_escalate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true</a:t>
            </a:r>
          </a:p>
          <a:p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asset_specific_policies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- asset: "172.31.69.25"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rule: 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외부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SSH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직접 접근 금지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(VPN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경유만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- asset: "172.31.69.28"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rule: 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관리자 경로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(/admin/*)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내부망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전용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411409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97"/>
    </mc:Choice>
    <mc:Fallback xmlns="">
      <p:transition spd="slow" advTm="1319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76C40-C2C6-1EF5-4F0D-31D7FC01F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B2AC7A9D-0DA4-D370-3A03-8A472FCA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>
            <a:normAutofit/>
          </a:bodyPr>
          <a:lstStyle/>
          <a:p>
            <a:r>
              <a:rPr lang="en-US" altLang="ko-KR" dirty="0"/>
              <a:t>’26h1 </a:t>
            </a:r>
            <a:r>
              <a:rPr lang="en-US" altLang="ko-KR" dirty="0" err="1"/>
              <a:t>AISecapp</a:t>
            </a:r>
            <a:r>
              <a:rPr lang="en-US" altLang="ko-KR" dirty="0"/>
              <a:t> proposal presentation</a:t>
            </a:r>
            <a:endParaRPr lang="ko-KR" altLang="en-US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1F74F092-8A18-FB2A-B0DF-934C872B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463075"/>
            <a:ext cx="710647" cy="2211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31D4CC28-2564-D667-8672-57EB9BC32068}"/>
              </a:ext>
            </a:extLst>
          </p:cNvPr>
          <p:cNvSpPr txBox="1">
            <a:spLocks/>
          </p:cNvSpPr>
          <p:nvPr/>
        </p:nvSpPr>
        <p:spPr>
          <a:xfrm>
            <a:off x="633378" y="148741"/>
            <a:ext cx="6306683" cy="1216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/>
              <a:t>프로젝트 아키텍처 계획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0A5E23-1784-949B-B53E-64EA0347B783}"/>
              </a:ext>
            </a:extLst>
          </p:cNvPr>
          <p:cNvSpPr/>
          <p:nvPr/>
        </p:nvSpPr>
        <p:spPr>
          <a:xfrm>
            <a:off x="633378" y="2037522"/>
            <a:ext cx="10595499" cy="4425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0217931A-6A12-F965-2373-B79521172617}"/>
              </a:ext>
            </a:extLst>
          </p:cNvPr>
          <p:cNvSpPr txBox="1">
            <a:spLocks/>
          </p:cNvSpPr>
          <p:nvPr/>
        </p:nvSpPr>
        <p:spPr>
          <a:xfrm>
            <a:off x="633378" y="1426461"/>
            <a:ext cx="10595498" cy="461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&lt; Tier 2 LLM Sample Outputs &gt;</a:t>
            </a:r>
            <a:endParaRPr lang="en-US" altLang="ko-KR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F5BCDC-6E22-71B4-72F4-0090C73CF2EC}"/>
              </a:ext>
            </a:extLst>
          </p:cNvPr>
          <p:cNvSpPr txBox="1"/>
          <p:nvPr/>
        </p:nvSpPr>
        <p:spPr>
          <a:xfrm>
            <a:off x="914400" y="2186610"/>
            <a:ext cx="495962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# Sample </a:t>
            </a:r>
            <a:r>
              <a:rPr lang="en-US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watchlist.yaml</a:t>
            </a:r>
            <a:endParaRPr lang="en-US" altLang="ko-KR" sz="12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watchlist_version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"2026-W17"</a:t>
            </a: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generated_at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"2026-04-21T09:00:00+09:00"</a:t>
            </a: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valid_until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"2026-04-27T23:59:59+09:00"</a:t>
            </a: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generated_by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"claude-opus-4-7"</a:t>
            </a: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based_on_brief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"attack_surface_memory_2026-W16.md"</a:t>
            </a:r>
          </a:p>
          <a:p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priority_1: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#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자동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Alert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격상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 ML prob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임계치도 하향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- id: "P1-2026W17-001"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target_assets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-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ip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"172.31.69.28"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role: "web-application-server"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reason: "CVE-2024-XXXXX Apache RCE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영향 버전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지난 주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external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접근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3.2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배 증가로 정찰 정황 포착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detection_hints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- condition: 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dst_port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in [80, 443]"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- condition: "L7_PROTO == 7 (HTTP)"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- condition: 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src_ip.zone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== 'external-unknown'"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- condition: "TCP_WIN_MAX_IN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비정상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(&gt; 60000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또는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&lt; 1024)"</a:t>
            </a:r>
          </a:p>
          <a:p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F9EB38-DD53-AEE5-A39A-63ADD484A283}"/>
              </a:ext>
            </a:extLst>
          </p:cNvPr>
          <p:cNvSpPr txBox="1"/>
          <p:nvPr/>
        </p:nvSpPr>
        <p:spPr>
          <a:xfrm>
            <a:off x="5931126" y="2186610"/>
            <a:ext cx="515100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# Sample brief_context.md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Brief Context — 2026-W17 (2026-04-21 ~ 2026-04-27)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 문서는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Tier 1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실시간 판정자가 이번 주 플로우 판정 시 참조하는 맥락입니다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&gt; Tier 2 (Opus 4.7)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가 매주 월요일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09:00 KST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에 새로 작성합니다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---</a:t>
            </a:r>
          </a:p>
          <a:p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##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조직 현황 요약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본 조직은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AWS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환경에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부서 약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420 PC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30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서버를 운영합니다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내부망은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`172.31.0.0/16`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주요 서비스 자산은 다음과 같습니다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- **172.31.69.28** —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공개 웹 애플리케이션 서버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(HTTP/HTTPS). SQL Injection, XSS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공격 이력 있음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 **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이번 주 중요도 최상**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- **172.31.69.25** —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다용도 서버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(SSH, FTP, HTTP).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BruteForce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공격 대상 반복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중요도 높음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- **172.31.0.2** — VPC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인프라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(DNS/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게이트웨이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).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중요도 높음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외부 대역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`18.0.0.0/8`, `13.0.0.0/8`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은 본 조직과 직접 신뢰 관계 없음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 대역에서 오는 연결은 기본적으로 검증 대상으로 간주합니다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##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이번 주 주의 사항</a:t>
            </a:r>
          </a:p>
        </p:txBody>
      </p:sp>
    </p:spTree>
    <p:extLst>
      <p:ext uri="{BB962C8B-B14F-4D97-AF65-F5344CB8AC3E}">
        <p14:creationId xmlns:p14="http://schemas.microsoft.com/office/powerpoint/2010/main" val="249550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97"/>
    </mc:Choice>
    <mc:Fallback xmlns="">
      <p:transition spd="slow" advTm="1319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B93C3-907F-A31E-A8D8-293427DF3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69F98E29-9700-719D-791B-18D6CA40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>
            <a:normAutofit/>
          </a:bodyPr>
          <a:lstStyle/>
          <a:p>
            <a:r>
              <a:rPr lang="en-US" altLang="ko-KR" dirty="0"/>
              <a:t>’26h1 </a:t>
            </a:r>
            <a:r>
              <a:rPr lang="en-US" altLang="ko-KR" dirty="0" err="1"/>
              <a:t>AISecapp</a:t>
            </a:r>
            <a:r>
              <a:rPr lang="en-US" altLang="ko-KR" dirty="0"/>
              <a:t> proposal presentation</a:t>
            </a:r>
            <a:endParaRPr lang="ko-KR" altLang="en-US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420DB302-71F3-407A-F533-AA89DCF1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463075"/>
            <a:ext cx="710647" cy="2211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E878C270-CDC8-8AC8-F429-1D9B2D90E1DC}"/>
              </a:ext>
            </a:extLst>
          </p:cNvPr>
          <p:cNvSpPr txBox="1">
            <a:spLocks/>
          </p:cNvSpPr>
          <p:nvPr/>
        </p:nvSpPr>
        <p:spPr>
          <a:xfrm>
            <a:off x="633378" y="148741"/>
            <a:ext cx="6306683" cy="1216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/>
              <a:t>프로젝트 아키텍처 계획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05D8430-BEE3-D0FC-BCC2-14C21B0E5CDF}"/>
              </a:ext>
            </a:extLst>
          </p:cNvPr>
          <p:cNvSpPr/>
          <p:nvPr/>
        </p:nvSpPr>
        <p:spPr>
          <a:xfrm>
            <a:off x="633378" y="1629507"/>
            <a:ext cx="6543599" cy="43836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AA5753E-5E9A-18FF-F21C-F712245C0369}"/>
              </a:ext>
            </a:extLst>
          </p:cNvPr>
          <p:cNvSpPr txBox="1">
            <a:spLocks/>
          </p:cNvSpPr>
          <p:nvPr/>
        </p:nvSpPr>
        <p:spPr>
          <a:xfrm>
            <a:off x="7525753" y="1695471"/>
            <a:ext cx="3872349" cy="4317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&lt; Component Abstraction&gt;</a:t>
            </a:r>
            <a:endParaRPr lang="en-US" altLang="ko-KR" dirty="0"/>
          </a:p>
          <a:p>
            <a:r>
              <a:rPr lang="ko-KR" altLang="en-US" sz="1600" dirty="0"/>
              <a:t>이 프로젝트는 최소 파이프라인을 구현하는 것에 중점</a:t>
            </a:r>
            <a:endParaRPr lang="en-US" altLang="ko-KR" sz="1600" dirty="0"/>
          </a:p>
          <a:p>
            <a:r>
              <a:rPr lang="ko-KR" altLang="en-US" sz="1600" dirty="0"/>
              <a:t>모든 컴포넌트를 </a:t>
            </a:r>
            <a:r>
              <a:rPr lang="en-US" altLang="ko-KR" sz="1600" dirty="0"/>
              <a:t>plug-in </a:t>
            </a:r>
            <a:r>
              <a:rPr lang="ko-KR" altLang="en-US" sz="1600" dirty="0"/>
              <a:t>가능한 추상 클래스로 정의</a:t>
            </a:r>
            <a:r>
              <a:rPr lang="en-US" altLang="ko-KR" sz="1600" dirty="0"/>
              <a:t>, </a:t>
            </a:r>
            <a:r>
              <a:rPr lang="ko-KR" altLang="en-US" sz="1600" dirty="0"/>
              <a:t>새 컴포넌트 추가 시 클래스 구현으로 추가 가능</a:t>
            </a:r>
            <a:endParaRPr lang="en-US" altLang="ko-KR" sz="1600" dirty="0"/>
          </a:p>
          <a:p>
            <a:r>
              <a:rPr lang="en-US" altLang="ko-KR" sz="1600" dirty="0"/>
              <a:t>Ex) </a:t>
            </a:r>
            <a:r>
              <a:rPr lang="en-US" altLang="ko-KR" sz="1600" dirty="0" err="1"/>
              <a:t>LLMProvider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 err="1"/>
              <a:t>MLDetector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AssetSource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ReportRenderer</a:t>
            </a:r>
            <a:r>
              <a:rPr lang="en-US" altLang="ko-KR" sz="1600" dirty="0"/>
              <a:t>, …</a:t>
            </a:r>
            <a:endParaRPr lang="en-US" altLang="ko-KR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24D7704-AB0A-72DE-311A-D1DD3F5FD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98" y="1974013"/>
            <a:ext cx="6225248" cy="185255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8C040DC-F6AF-6605-8ECF-8F518CC01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98" y="3982228"/>
            <a:ext cx="6225248" cy="175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74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97"/>
    </mc:Choice>
    <mc:Fallback xmlns="">
      <p:transition spd="slow" advTm="1319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77162-E3F4-C62F-B7CD-8064AF56F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2553444B-607E-221D-DC23-C1A2B76B6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>
            <a:normAutofit/>
          </a:bodyPr>
          <a:lstStyle/>
          <a:p>
            <a:r>
              <a:rPr lang="en-US" altLang="ko-KR" dirty="0"/>
              <a:t>’26h1 </a:t>
            </a:r>
            <a:r>
              <a:rPr lang="en-US" altLang="ko-KR" dirty="0" err="1"/>
              <a:t>AISecapp</a:t>
            </a:r>
            <a:r>
              <a:rPr lang="en-US" altLang="ko-KR" dirty="0"/>
              <a:t> proposal presentation</a:t>
            </a:r>
            <a:endParaRPr lang="ko-KR" altLang="en-US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27B40A1D-D7BD-C8DF-77F7-5BC40F7D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463075"/>
            <a:ext cx="710647" cy="2211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785851E6-026E-919E-A777-630CF176BE79}"/>
              </a:ext>
            </a:extLst>
          </p:cNvPr>
          <p:cNvSpPr txBox="1">
            <a:spLocks/>
          </p:cNvSpPr>
          <p:nvPr/>
        </p:nvSpPr>
        <p:spPr>
          <a:xfrm>
            <a:off x="633378" y="148741"/>
            <a:ext cx="6306683" cy="1216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/>
              <a:t>평가 </a:t>
            </a:r>
            <a:r>
              <a:rPr lang="en-US" altLang="ko-KR" sz="3200" dirty="0"/>
              <a:t>Metrics</a:t>
            </a:r>
            <a:r>
              <a:rPr lang="ko-KR" altLang="en-US" sz="3200" dirty="0"/>
              <a:t> </a:t>
            </a:r>
            <a:r>
              <a:rPr lang="en-US" altLang="ko-KR" sz="3200" dirty="0"/>
              <a:t>(3 Levels)</a:t>
            </a:r>
            <a:endParaRPr lang="ko-KR" altLang="en-US" sz="32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C3B889C-0E48-1A86-B9DA-7D0EE7F9FB49}"/>
              </a:ext>
            </a:extLst>
          </p:cNvPr>
          <p:cNvCxnSpPr>
            <a:cxnSpLocks/>
          </p:cNvCxnSpPr>
          <p:nvPr/>
        </p:nvCxnSpPr>
        <p:spPr>
          <a:xfrm>
            <a:off x="5839326" y="1659835"/>
            <a:ext cx="0" cy="50244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36D084-96F5-248F-967F-CBF6A0EFB951}"/>
              </a:ext>
            </a:extLst>
          </p:cNvPr>
          <p:cNvSpPr txBox="1">
            <a:spLocks/>
          </p:cNvSpPr>
          <p:nvPr/>
        </p:nvSpPr>
        <p:spPr>
          <a:xfrm>
            <a:off x="618381" y="1838740"/>
            <a:ext cx="4947532" cy="4723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평가 </a:t>
            </a:r>
            <a:r>
              <a:rPr lang="en-US" altLang="ko-KR" b="1" dirty="0"/>
              <a:t>Milestone</a:t>
            </a:r>
            <a:r>
              <a:rPr lang="ko-KR" altLang="en-US" b="1" dirty="0"/>
              <a:t> </a:t>
            </a:r>
            <a:r>
              <a:rPr lang="en-US" altLang="ko-KR" b="1" dirty="0"/>
              <a:t>3</a:t>
            </a:r>
            <a:r>
              <a:rPr lang="ko-KR" altLang="en-US" b="1" dirty="0"/>
              <a:t>단계</a:t>
            </a:r>
            <a:endParaRPr lang="en-US" altLang="ko-KR" sz="100" b="1" dirty="0"/>
          </a:p>
          <a:p>
            <a:r>
              <a:rPr lang="en-US" altLang="ko-KR" sz="1700" b="1" dirty="0"/>
              <a:t>1</a:t>
            </a:r>
            <a:r>
              <a:rPr lang="ko-KR" altLang="en-US" sz="1700" b="1" dirty="0"/>
              <a:t>차 </a:t>
            </a:r>
            <a:r>
              <a:rPr lang="en-US" altLang="ko-KR" sz="1700" b="1" dirty="0"/>
              <a:t>(</a:t>
            </a:r>
            <a:r>
              <a:rPr lang="ko-KR" altLang="en-US" sz="1700" b="1" dirty="0" err="1"/>
              <a:t>작동성</a:t>
            </a:r>
            <a:r>
              <a:rPr lang="en-US" altLang="ko-KR" sz="1700" b="1" dirty="0"/>
              <a:t>)</a:t>
            </a:r>
            <a:r>
              <a:rPr lang="en-US" altLang="ko-KR" sz="1700" dirty="0"/>
              <a:t>: </a:t>
            </a:r>
            <a:r>
              <a:rPr lang="ko-KR" altLang="en-US" sz="1700" dirty="0"/>
              <a:t>파이프라인 </a:t>
            </a:r>
            <a:r>
              <a:rPr lang="en-US" altLang="ko-KR" sz="1700" dirty="0"/>
              <a:t>end-to-end </a:t>
            </a:r>
            <a:r>
              <a:rPr lang="ko-KR" altLang="en-US" sz="1700" dirty="0"/>
              <a:t>처리 성공률</a:t>
            </a:r>
            <a:r>
              <a:rPr lang="en-US" altLang="ko-KR" sz="1700" dirty="0"/>
              <a:t>, Tier 1 </a:t>
            </a:r>
            <a:r>
              <a:rPr lang="ko-KR" altLang="en-US" sz="1700" dirty="0"/>
              <a:t>지연 시간</a:t>
            </a:r>
            <a:r>
              <a:rPr lang="en-US" altLang="ko-KR" sz="1700" dirty="0"/>
              <a:t>, Tier 2 </a:t>
            </a:r>
            <a:r>
              <a:rPr lang="ko-KR" altLang="en-US" sz="1700" dirty="0"/>
              <a:t>비용</a:t>
            </a:r>
            <a:endParaRPr lang="en-US" altLang="ko-KR" sz="1700" dirty="0"/>
          </a:p>
          <a:p>
            <a:r>
              <a:rPr lang="en-US" altLang="ko-KR" sz="1700" b="1" dirty="0"/>
              <a:t>2</a:t>
            </a:r>
            <a:r>
              <a:rPr lang="ko-KR" altLang="en-US" sz="1700" b="1" dirty="0"/>
              <a:t>차 </a:t>
            </a:r>
            <a:r>
              <a:rPr lang="en-US" altLang="ko-KR" sz="1700" b="1" dirty="0"/>
              <a:t>(</a:t>
            </a:r>
            <a:r>
              <a:rPr lang="ko-KR" altLang="en-US" sz="1700" b="1" dirty="0"/>
              <a:t>기여 측정</a:t>
            </a:r>
            <a:r>
              <a:rPr lang="en-US" altLang="ko-KR" sz="1700" b="1" dirty="0"/>
              <a:t>)</a:t>
            </a:r>
            <a:r>
              <a:rPr lang="en-US" altLang="ko-KR" sz="1700" dirty="0"/>
              <a:t>: </a:t>
            </a:r>
            <a:r>
              <a:rPr lang="ko-KR" altLang="en-US" sz="1700" dirty="0"/>
              <a:t>자산</a:t>
            </a:r>
            <a:r>
              <a:rPr lang="en-US" altLang="ko-KR" sz="1700" dirty="0"/>
              <a:t>/</a:t>
            </a:r>
            <a:r>
              <a:rPr lang="ko-KR" altLang="en-US" sz="1700" dirty="0"/>
              <a:t>위협 인텔</a:t>
            </a:r>
            <a:r>
              <a:rPr lang="en-US" altLang="ko-KR" sz="1700" dirty="0"/>
              <a:t>/Watchlist </a:t>
            </a:r>
            <a:r>
              <a:rPr lang="ko-KR" altLang="en-US" sz="1700" dirty="0"/>
              <a:t>등의 </a:t>
            </a:r>
            <a:r>
              <a:rPr lang="en-US" altLang="ko-KR" sz="1700" dirty="0"/>
              <a:t>component</a:t>
            </a:r>
            <a:r>
              <a:rPr lang="ko-KR" altLang="en-US" sz="1700" dirty="0"/>
              <a:t> 추가 시 </a:t>
            </a:r>
            <a:r>
              <a:rPr lang="ko-KR" altLang="en-US" sz="1700" dirty="0" err="1"/>
              <a:t>일치율</a:t>
            </a:r>
            <a:r>
              <a:rPr lang="ko-KR" altLang="en-US" sz="1700" dirty="0"/>
              <a:t> 변화 측정으로 실질적 기여 확인</a:t>
            </a:r>
            <a:endParaRPr lang="en-US" altLang="ko-KR" sz="1700" dirty="0"/>
          </a:p>
          <a:p>
            <a:r>
              <a:rPr lang="en-US" altLang="ko-KR" sz="1700" b="1" dirty="0"/>
              <a:t>3</a:t>
            </a:r>
            <a:r>
              <a:rPr lang="ko-KR" altLang="en-US" sz="1700" b="1" dirty="0"/>
              <a:t>차 </a:t>
            </a:r>
            <a:r>
              <a:rPr lang="en-US" altLang="ko-KR" sz="1700" b="1" dirty="0"/>
              <a:t>(</a:t>
            </a:r>
            <a:r>
              <a:rPr lang="ko-KR" altLang="en-US" sz="1700" b="1" dirty="0"/>
              <a:t>리포트 품질</a:t>
            </a:r>
            <a:r>
              <a:rPr lang="en-US" altLang="ko-KR" sz="1700" b="1" dirty="0"/>
              <a:t>)</a:t>
            </a:r>
            <a:r>
              <a:rPr lang="en-US" altLang="ko-KR" sz="1700" dirty="0"/>
              <a:t>: </a:t>
            </a:r>
            <a:r>
              <a:rPr lang="ko-KR" altLang="en-US" sz="1700" dirty="0"/>
              <a:t>정확성</a:t>
            </a:r>
            <a:r>
              <a:rPr lang="en-US" altLang="ko-KR" sz="1700" dirty="0"/>
              <a:t>·</a:t>
            </a:r>
            <a:r>
              <a:rPr lang="ko-KR" altLang="en-US" sz="1700" dirty="0"/>
              <a:t>맥락 정합성</a:t>
            </a:r>
            <a:r>
              <a:rPr lang="en-US" altLang="ko-KR" sz="1700" dirty="0"/>
              <a:t>·</a:t>
            </a:r>
            <a:r>
              <a:rPr lang="ko-KR" altLang="en-US" sz="1700" dirty="0"/>
              <a:t>실행 가능성</a:t>
            </a:r>
            <a:r>
              <a:rPr lang="en-US" altLang="ko-KR" sz="1700" dirty="0"/>
              <a:t>·</a:t>
            </a:r>
            <a:r>
              <a:rPr lang="ko-KR" altLang="en-US" sz="1700" dirty="0"/>
              <a:t>가독성</a:t>
            </a:r>
            <a:r>
              <a:rPr lang="en-US" altLang="ko-KR" sz="1700" dirty="0"/>
              <a:t>(GUI)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ED8F4C-0D2A-4E58-BBD7-B8FD8F870811}"/>
              </a:ext>
            </a:extLst>
          </p:cNvPr>
          <p:cNvSpPr txBox="1">
            <a:spLocks/>
          </p:cNvSpPr>
          <p:nvPr/>
        </p:nvSpPr>
        <p:spPr>
          <a:xfrm>
            <a:off x="6098144" y="1842055"/>
            <a:ext cx="4947532" cy="4723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평가 방법의 한계</a:t>
            </a:r>
            <a:endParaRPr lang="en-US" altLang="ko-KR" sz="100" b="1" dirty="0"/>
          </a:p>
          <a:p>
            <a:r>
              <a:rPr lang="ko-KR" altLang="en-US" sz="1700" b="1" dirty="0"/>
              <a:t>데이터셋의 한계</a:t>
            </a:r>
            <a:r>
              <a:rPr lang="en-US" altLang="ko-KR" sz="1700" dirty="0"/>
              <a:t>: </a:t>
            </a:r>
            <a:r>
              <a:rPr lang="ko-KR" altLang="en-US" sz="1700" dirty="0"/>
              <a:t>데이터셋 자체는 자산과 컨텍스트를 기반으로 한 </a:t>
            </a:r>
            <a:r>
              <a:rPr lang="en-US" altLang="ko-KR" sz="1700" dirty="0"/>
              <a:t>IDS </a:t>
            </a:r>
            <a:r>
              <a:rPr lang="ko-KR" altLang="en-US" sz="1700" dirty="0"/>
              <a:t>측정을 위해 만들어진 것이 아님</a:t>
            </a:r>
            <a:endParaRPr lang="en-US" altLang="ko-KR" sz="1700" dirty="0"/>
          </a:p>
          <a:p>
            <a:r>
              <a:rPr lang="ko-KR" altLang="en-US" sz="1700" dirty="0"/>
              <a:t>데이터셋 라벨과 컨텍스트를 주입하여 추론된 판정은 일치하지 않을 수 있음</a:t>
            </a:r>
            <a:endParaRPr lang="en-US" altLang="ko-KR" sz="1700" dirty="0"/>
          </a:p>
          <a:p>
            <a:r>
              <a:rPr lang="ko-KR" altLang="en-US" sz="1700" dirty="0"/>
              <a:t>맥락에 맞게 직접 생성한 </a:t>
            </a:r>
            <a:r>
              <a:rPr lang="en-US" altLang="ko-KR" sz="1700" dirty="0"/>
              <a:t>test case</a:t>
            </a:r>
            <a:r>
              <a:rPr lang="ko-KR" altLang="en-US" sz="1700" dirty="0"/>
              <a:t>를 평가 시 함께 활용 예정</a:t>
            </a:r>
            <a:endParaRPr lang="en-US" altLang="ko-KR" sz="1700" dirty="0"/>
          </a:p>
        </p:txBody>
      </p:sp>
    </p:spTree>
    <p:extLst>
      <p:ext uri="{BB962C8B-B14F-4D97-AF65-F5344CB8AC3E}">
        <p14:creationId xmlns:p14="http://schemas.microsoft.com/office/powerpoint/2010/main" val="428114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97"/>
    </mc:Choice>
    <mc:Fallback xmlns="">
      <p:transition spd="slow" advTm="13197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33E1B-B3C6-ABA1-DFE2-33D67355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724D5618-0B02-AD81-014F-153EAA725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118764" y="4237870"/>
            <a:ext cx="3344053" cy="365125"/>
          </a:xfrm>
        </p:spPr>
        <p:txBody>
          <a:bodyPr>
            <a:normAutofit/>
          </a:bodyPr>
          <a:lstStyle/>
          <a:p>
            <a:r>
              <a:rPr lang="en-US" altLang="ko-KR" dirty="0"/>
              <a:t>’26h1 </a:t>
            </a:r>
            <a:r>
              <a:rPr lang="en-US" altLang="ko-KR" dirty="0" err="1"/>
              <a:t>AISecapp</a:t>
            </a:r>
            <a:r>
              <a:rPr lang="en-US" altLang="ko-KR" dirty="0"/>
              <a:t> proposal presentation</a:t>
            </a:r>
            <a:endParaRPr lang="ko-KR" altLang="en-US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09469BC8-8D2E-4BB2-4FA3-9E92D6078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463075"/>
            <a:ext cx="710647" cy="2211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43FFD5-6656-4C69-9CDD-D1B69A112D7A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5B19477F-359E-0FB1-3475-6D78D2516ECF}"/>
              </a:ext>
            </a:extLst>
          </p:cNvPr>
          <p:cNvSpPr txBox="1">
            <a:spLocks/>
          </p:cNvSpPr>
          <p:nvPr/>
        </p:nvSpPr>
        <p:spPr>
          <a:xfrm>
            <a:off x="633378" y="148741"/>
            <a:ext cx="6306683" cy="1216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/>
              <a:t>주차별 일정 및 예상 결과물 </a:t>
            </a:r>
            <a:r>
              <a:rPr lang="en-US" altLang="ko-KR" sz="3200" dirty="0"/>
              <a:t>(</a:t>
            </a:r>
            <a:r>
              <a:rPr lang="ko-KR" altLang="en-US" sz="3200" dirty="0"/>
              <a:t>초안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1B530E8-B2F6-0C71-B64B-838158E0D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846256"/>
              </p:ext>
            </p:extLst>
          </p:nvPr>
        </p:nvGraphicFramePr>
        <p:xfrm>
          <a:off x="633378" y="1804185"/>
          <a:ext cx="10520175" cy="46248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3282">
                  <a:extLst>
                    <a:ext uri="{9D8B030D-6E8A-4147-A177-3AD203B41FA5}">
                      <a16:colId xmlns:a16="http://schemas.microsoft.com/office/drawing/2014/main" val="3517766997"/>
                    </a:ext>
                  </a:extLst>
                </a:gridCol>
                <a:gridCol w="5305647">
                  <a:extLst>
                    <a:ext uri="{9D8B030D-6E8A-4147-A177-3AD203B41FA5}">
                      <a16:colId xmlns:a16="http://schemas.microsoft.com/office/drawing/2014/main" val="1659238887"/>
                    </a:ext>
                  </a:extLst>
                </a:gridCol>
                <a:gridCol w="4391246">
                  <a:extLst>
                    <a:ext uri="{9D8B030D-6E8A-4147-A177-3AD203B41FA5}">
                      <a16:colId xmlns:a16="http://schemas.microsoft.com/office/drawing/2014/main" val="858433466"/>
                    </a:ext>
                  </a:extLst>
                </a:gridCol>
              </a:tblGrid>
              <a:tr h="3542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기대 결과물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846295"/>
                  </a:ext>
                </a:extLst>
              </a:tr>
              <a:tr h="608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ML</a:t>
                      </a:r>
                      <a:r>
                        <a:rPr lang="ko-KR" altLang="en-US" dirty="0"/>
                        <a:t> 파이프라인 </a:t>
                      </a:r>
                      <a:r>
                        <a:rPr lang="en-US" altLang="ko-KR" dirty="0"/>
                        <a:t>+ SHAP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549135"/>
                  </a:ext>
                </a:extLst>
              </a:tr>
              <a:tr h="608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546739"/>
                  </a:ext>
                </a:extLst>
              </a:tr>
              <a:tr h="608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649421"/>
                  </a:ext>
                </a:extLst>
              </a:tr>
              <a:tr h="608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889644"/>
                  </a:ext>
                </a:extLst>
              </a:tr>
              <a:tr h="608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W13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304110"/>
                  </a:ext>
                </a:extLst>
              </a:tr>
              <a:tr h="608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392353"/>
                  </a:ext>
                </a:extLst>
              </a:tr>
              <a:tr h="608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최종 발표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43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72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97"/>
    </mc:Choice>
    <mc:Fallback xmlns="">
      <p:transition spd="slow" advTm="1319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AA78E-4C3C-9038-FD86-DDB6941CC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2607906"/>
            <a:ext cx="8915402" cy="1371600"/>
          </a:xfrm>
        </p:spPr>
        <p:txBody>
          <a:bodyPr/>
          <a:lstStyle/>
          <a:p>
            <a:pPr algn="ctr"/>
            <a:r>
              <a:rPr lang="en-US" altLang="ko-KR" dirty="0"/>
              <a:t>Thank you!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6198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29"/>
    </mc:Choice>
    <mc:Fallback xmlns="">
      <p:transition spd="slow" advTm="6029"/>
    </mc:Fallback>
  </mc:AlternateContent>
</p:sld>
</file>

<file path=ppt/theme/theme1.xml><?xml version="1.0" encoding="utf-8"?>
<a:theme xmlns:a="http://schemas.openxmlformats.org/drawingml/2006/main" name="EncaseVTI">
  <a:themeElements>
    <a:clrScheme name="AnalogousFromDarkSeedLeftStep">
      <a:dk1>
        <a:srgbClr val="000000"/>
      </a:dk1>
      <a:lt1>
        <a:srgbClr val="FFFFFF"/>
      </a:lt1>
      <a:dk2>
        <a:srgbClr val="1B2130"/>
      </a:dk2>
      <a:lt2>
        <a:srgbClr val="F0F3F1"/>
      </a:lt2>
      <a:accent1>
        <a:srgbClr val="D937B0"/>
      </a:accent1>
      <a:accent2>
        <a:srgbClr val="AC25C7"/>
      </a:accent2>
      <a:accent3>
        <a:srgbClr val="7B37D9"/>
      </a:accent3>
      <a:accent4>
        <a:srgbClr val="3A3ACC"/>
      </a:accent4>
      <a:accent5>
        <a:srgbClr val="377AD9"/>
      </a:accent5>
      <a:accent6>
        <a:srgbClr val="25ACC7"/>
      </a:accent6>
      <a:hlink>
        <a:srgbClr val="3F5FBF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비누</Template>
  <TotalTime>1093</TotalTime>
  <Words>1732</Words>
  <Application>Microsoft Office PowerPoint</Application>
  <PresentationFormat>와이드스크린</PresentationFormat>
  <Paragraphs>320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D2Coding</vt:lpstr>
      <vt:lpstr>Microsoft GothicNeo</vt:lpstr>
      <vt:lpstr>맑은 고딕</vt:lpstr>
      <vt:lpstr>Arial</vt:lpstr>
      <vt:lpstr>Avenir Next LT Pro</vt:lpstr>
      <vt:lpstr>Avenir Next LT Pro Light</vt:lpstr>
      <vt:lpstr>Book Antiqua</vt:lpstr>
      <vt:lpstr>EncaseVTI</vt:lpstr>
      <vt:lpstr>ML+LLM 기반 다계층 네트워크 보안 경보 파이프라인</vt:lpstr>
      <vt:lpstr>목차</vt:lpstr>
      <vt:lpstr>기술 배경 및 문제 제기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Presentation</dc:title>
  <dc:creator>윤종현</dc:creator>
  <cp:lastModifiedBy>종현 윤</cp:lastModifiedBy>
  <cp:revision>401</cp:revision>
  <dcterms:created xsi:type="dcterms:W3CDTF">2023-11-15T11:36:22Z</dcterms:created>
  <dcterms:modified xsi:type="dcterms:W3CDTF">2026-04-24T09:19:31Z</dcterms:modified>
</cp:coreProperties>
</file>